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png!web" ContentType="image/png"/>
  <Default Extension="jpg" ContentType="image/png"/>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media/image11.jpg" ContentType="image/jpeg"/>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2"/>
  </p:notesMasterIdLst>
  <p:sldIdLst>
    <p:sldId id="256" r:id="rId3"/>
    <p:sldId id="257" r:id="rId4"/>
    <p:sldId id="258" r:id="rId5"/>
    <p:sldId id="273" r:id="rId6"/>
    <p:sldId id="259" r:id="rId7"/>
    <p:sldId id="274" r:id="rId8"/>
    <p:sldId id="261" r:id="rId9"/>
    <p:sldId id="260" r:id="rId10"/>
    <p:sldId id="262" r:id="rId11"/>
    <p:sldId id="263" r:id="rId12"/>
    <p:sldId id="264" r:id="rId13"/>
    <p:sldId id="265" r:id="rId14"/>
    <p:sldId id="266" r:id="rId15"/>
    <p:sldId id="267" r:id="rId16"/>
    <p:sldId id="268" r:id="rId17"/>
    <p:sldId id="269" r:id="rId18"/>
    <p:sldId id="275" r:id="rId19"/>
    <p:sldId id="270" r:id="rId20"/>
    <p:sldId id="277" r:id="rId2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86" d="100"/>
          <a:sy n="86" d="100"/>
        </p:scale>
        <p:origin x="56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27"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97A470-31C7-4D91-85E3-B90F236D9381}" type="datetimeFigureOut">
              <a:rPr lang="zh-CN" altLang="en-US" smtClean="0"/>
              <a:t>2017/8/2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259149D-B417-4CD7-9BB9-0A182BC30C35}" type="slidenum">
              <a:rPr lang="zh-CN" altLang="en-US" smtClean="0"/>
              <a:t>‹#›</a:t>
            </a:fld>
            <a:endParaRPr lang="zh-CN" altLang="en-US"/>
          </a:p>
        </p:txBody>
      </p:sp>
    </p:spTree>
    <p:extLst>
      <p:ext uri="{BB962C8B-B14F-4D97-AF65-F5344CB8AC3E}">
        <p14:creationId xmlns:p14="http://schemas.microsoft.com/office/powerpoint/2010/main" val="14138443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a:t>模板来自于 </a:t>
            </a:r>
            <a:r>
              <a:rPr lang="en-US" altLang="zh-CN"/>
              <a:t>http://docer.wps.cn</a:t>
            </a:r>
            <a:endParaRPr lang="zh-CN" altLang="en-US"/>
          </a:p>
        </p:txBody>
      </p:sp>
      <p:sp>
        <p:nvSpPr>
          <p:cNvPr id="512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pPr fontAlgn="base">
              <a:spcBef>
                <a:spcPct val="0"/>
              </a:spcBef>
              <a:spcAft>
                <a:spcPct val="0"/>
              </a:spcAft>
            </a:pPr>
            <a:fld id="{0F6DDB16-82B8-44F1-AA70-D66C3CA37C4C}" type="slidenum">
              <a:rPr lang="zh-CN" altLang="en-US" smtClean="0">
                <a:solidFill>
                  <a:prstClr val="black"/>
                </a:solidFill>
                <a:latin typeface="Calibri" panose="020F0502020204030204" pitchFamily="34" charset="0"/>
                <a:ea typeface="宋体" panose="02010600030101010101" pitchFamily="2" charset="-122"/>
              </a:rPr>
              <a:pPr fontAlgn="base">
                <a:spcBef>
                  <a:spcPct val="0"/>
                </a:spcBef>
                <a:spcAft>
                  <a:spcPct val="0"/>
                </a:spcAft>
              </a:pPr>
              <a:t>19</a:t>
            </a:fld>
            <a:endParaRPr lang="zh-CN" altLang="en-US">
              <a:solidFill>
                <a:prstClr val="black"/>
              </a:solidFill>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13528395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F350AE22-6599-4638-BAA4-C8768389C8AB}" type="datetimeFigureOut">
              <a:rPr lang="zh-CN" altLang="en-US" smtClean="0"/>
              <a:t>2017/8/2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4601C7C-85B7-4B3F-AE21-1A5F7EFA177E}" type="slidenum">
              <a:rPr lang="zh-CN" altLang="en-US" smtClean="0"/>
              <a:t>‹#›</a:t>
            </a:fld>
            <a:endParaRPr lang="zh-CN" altLang="en-US"/>
          </a:p>
        </p:txBody>
      </p:sp>
    </p:spTree>
    <p:extLst>
      <p:ext uri="{BB962C8B-B14F-4D97-AF65-F5344CB8AC3E}">
        <p14:creationId xmlns:p14="http://schemas.microsoft.com/office/powerpoint/2010/main" val="1466672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350AE22-6599-4638-BAA4-C8768389C8AB}" type="datetimeFigureOut">
              <a:rPr lang="zh-CN" altLang="en-US" smtClean="0"/>
              <a:t>2017/8/2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4601C7C-85B7-4B3F-AE21-1A5F7EFA177E}" type="slidenum">
              <a:rPr lang="zh-CN" altLang="en-US" smtClean="0"/>
              <a:t>‹#›</a:t>
            </a:fld>
            <a:endParaRPr lang="zh-CN" altLang="en-US"/>
          </a:p>
        </p:txBody>
      </p:sp>
    </p:spTree>
    <p:extLst>
      <p:ext uri="{BB962C8B-B14F-4D97-AF65-F5344CB8AC3E}">
        <p14:creationId xmlns:p14="http://schemas.microsoft.com/office/powerpoint/2010/main" val="19245927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F350AE22-6599-4638-BAA4-C8768389C8AB}" type="datetimeFigureOut">
              <a:rPr lang="zh-CN" altLang="en-US" smtClean="0"/>
              <a:t>2017/8/2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4601C7C-85B7-4B3F-AE21-1A5F7EFA177E}" type="slidenum">
              <a:rPr lang="zh-CN" altLang="en-US" smtClean="0"/>
              <a:t>‹#›</a:t>
            </a:fld>
            <a:endParaRPr lang="zh-CN" altLang="en-US"/>
          </a:p>
        </p:txBody>
      </p:sp>
    </p:spTree>
    <p:extLst>
      <p:ext uri="{BB962C8B-B14F-4D97-AF65-F5344CB8AC3E}">
        <p14:creationId xmlns:p14="http://schemas.microsoft.com/office/powerpoint/2010/main" val="1075610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F350AE22-6599-4638-BAA4-C8768389C8AB}" type="datetimeFigureOut">
              <a:rPr lang="zh-CN" altLang="en-US" smtClean="0"/>
              <a:t>2017/8/2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4601C7C-85B7-4B3F-AE21-1A5F7EFA177E}" type="slidenum">
              <a:rPr lang="zh-CN" altLang="en-US" smtClean="0"/>
              <a:t>‹#›</a:t>
            </a:fld>
            <a:endParaRPr lang="zh-CN" altLang="en-US"/>
          </a:p>
        </p:txBody>
      </p:sp>
    </p:spTree>
    <p:extLst>
      <p:ext uri="{BB962C8B-B14F-4D97-AF65-F5344CB8AC3E}">
        <p14:creationId xmlns:p14="http://schemas.microsoft.com/office/powerpoint/2010/main" val="8368871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F350AE22-6599-4638-BAA4-C8768389C8AB}" type="datetimeFigureOut">
              <a:rPr lang="zh-CN" altLang="en-US" smtClean="0"/>
              <a:t>2017/8/2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4601C7C-85B7-4B3F-AE21-1A5F7EFA177E}" type="slidenum">
              <a:rPr lang="zh-CN" altLang="en-US" smtClean="0"/>
              <a:t>‹#›</a:t>
            </a:fld>
            <a:endParaRPr lang="zh-CN" altLang="en-US"/>
          </a:p>
        </p:txBody>
      </p:sp>
    </p:spTree>
    <p:extLst>
      <p:ext uri="{BB962C8B-B14F-4D97-AF65-F5344CB8AC3E}">
        <p14:creationId xmlns:p14="http://schemas.microsoft.com/office/powerpoint/2010/main" val="2682521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F350AE22-6599-4638-BAA4-C8768389C8AB}" type="datetimeFigureOut">
              <a:rPr lang="zh-CN" altLang="en-US" smtClean="0"/>
              <a:t>2017/8/2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4601C7C-85B7-4B3F-AE21-1A5F7EFA177E}" type="slidenum">
              <a:rPr lang="zh-CN" altLang="en-US" smtClean="0"/>
              <a:t>‹#›</a:t>
            </a:fld>
            <a:endParaRPr lang="zh-CN" altLang="en-US"/>
          </a:p>
        </p:txBody>
      </p:sp>
    </p:spTree>
    <p:extLst>
      <p:ext uri="{BB962C8B-B14F-4D97-AF65-F5344CB8AC3E}">
        <p14:creationId xmlns:p14="http://schemas.microsoft.com/office/powerpoint/2010/main" val="1186388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350AE22-6599-4638-BAA4-C8768389C8AB}" type="datetimeFigureOut">
              <a:rPr lang="zh-CN" altLang="en-US" smtClean="0"/>
              <a:t>2017/8/2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4601C7C-85B7-4B3F-AE21-1A5F7EFA177E}" type="slidenum">
              <a:rPr lang="zh-CN" altLang="en-US" smtClean="0"/>
              <a:t>‹#›</a:t>
            </a:fld>
            <a:endParaRPr lang="zh-CN" altLang="en-US"/>
          </a:p>
        </p:txBody>
      </p:sp>
    </p:spTree>
    <p:extLst>
      <p:ext uri="{BB962C8B-B14F-4D97-AF65-F5344CB8AC3E}">
        <p14:creationId xmlns:p14="http://schemas.microsoft.com/office/powerpoint/2010/main" val="3292728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F350AE22-6599-4638-BAA4-C8768389C8AB}" type="datetimeFigureOut">
              <a:rPr lang="zh-CN" altLang="en-US" smtClean="0"/>
              <a:t>2017/8/2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4601C7C-85B7-4B3F-AE21-1A5F7EFA177E}" type="slidenum">
              <a:rPr lang="zh-CN" altLang="en-US" smtClean="0"/>
              <a:t>‹#›</a:t>
            </a:fld>
            <a:endParaRPr lang="zh-CN" altLang="en-US"/>
          </a:p>
        </p:txBody>
      </p:sp>
    </p:spTree>
    <p:extLst>
      <p:ext uri="{BB962C8B-B14F-4D97-AF65-F5344CB8AC3E}">
        <p14:creationId xmlns:p14="http://schemas.microsoft.com/office/powerpoint/2010/main" val="7797730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F350AE22-6599-4638-BAA4-C8768389C8AB}" type="datetimeFigureOut">
              <a:rPr lang="zh-CN" altLang="en-US" smtClean="0"/>
              <a:t>2017/8/2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4601C7C-85B7-4B3F-AE21-1A5F7EFA177E}" type="slidenum">
              <a:rPr lang="zh-CN" altLang="en-US" smtClean="0"/>
              <a:t>‹#›</a:t>
            </a:fld>
            <a:endParaRPr lang="zh-CN" altLang="en-US"/>
          </a:p>
        </p:txBody>
      </p:sp>
    </p:spTree>
    <p:extLst>
      <p:ext uri="{BB962C8B-B14F-4D97-AF65-F5344CB8AC3E}">
        <p14:creationId xmlns:p14="http://schemas.microsoft.com/office/powerpoint/2010/main" val="30670833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350AE22-6599-4638-BAA4-C8768389C8AB}" type="datetimeFigureOut">
              <a:rPr lang="zh-CN" altLang="en-US" smtClean="0"/>
              <a:t>2017/8/2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4601C7C-85B7-4B3F-AE21-1A5F7EFA177E}" type="slidenum">
              <a:rPr lang="zh-CN" altLang="en-US" smtClean="0"/>
              <a:t>‹#›</a:t>
            </a:fld>
            <a:endParaRPr lang="zh-CN" altLang="en-US"/>
          </a:p>
        </p:txBody>
      </p:sp>
    </p:spTree>
    <p:extLst>
      <p:ext uri="{BB962C8B-B14F-4D97-AF65-F5344CB8AC3E}">
        <p14:creationId xmlns:p14="http://schemas.microsoft.com/office/powerpoint/2010/main" val="1857042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350AE22-6599-4638-BAA4-C8768389C8AB}" type="datetimeFigureOut">
              <a:rPr lang="zh-CN" altLang="en-US" smtClean="0"/>
              <a:t>2017/8/2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4601C7C-85B7-4B3F-AE21-1A5F7EFA177E}" type="slidenum">
              <a:rPr lang="zh-CN" altLang="en-US" smtClean="0"/>
              <a:t>‹#›</a:t>
            </a:fld>
            <a:endParaRPr lang="zh-CN" altLang="en-US"/>
          </a:p>
        </p:txBody>
      </p:sp>
    </p:spTree>
    <p:extLst>
      <p:ext uri="{BB962C8B-B14F-4D97-AF65-F5344CB8AC3E}">
        <p14:creationId xmlns:p14="http://schemas.microsoft.com/office/powerpoint/2010/main" val="26015438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122363"/>
            <a:ext cx="103632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8650822A-F5E9-4727-AC90-4B706FAD7266}" type="datetimeFigureOut">
              <a:rPr lang="zh-CN" altLang="en-US" smtClean="0">
                <a:solidFill>
                  <a:prstClr val="black">
                    <a:tint val="75000"/>
                  </a:prstClr>
                </a:solidFill>
              </a:rPr>
              <a:pPr/>
              <a:t>2017/8/2</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EC2518E-5B71-4206-90D4-E8E5221EC098}"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5652137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8650822A-F5E9-4727-AC90-4B706FAD7266}" type="datetimeFigureOut">
              <a:rPr lang="zh-CN" altLang="en-US" smtClean="0">
                <a:solidFill>
                  <a:prstClr val="black">
                    <a:tint val="75000"/>
                  </a:prstClr>
                </a:solidFill>
              </a:rPr>
              <a:pPr/>
              <a:t>2017/8/2</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EC2518E-5B71-4206-90D4-E8E5221EC098}"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5079228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8650822A-F5E9-4727-AC90-4B706FAD7266}" type="datetimeFigureOut">
              <a:rPr lang="zh-CN" altLang="en-US" smtClean="0">
                <a:solidFill>
                  <a:prstClr val="black">
                    <a:tint val="75000"/>
                  </a:prstClr>
                </a:solidFill>
              </a:rPr>
              <a:pPr/>
              <a:t>2017/8/2</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EC2518E-5B71-4206-90D4-E8E5221EC098}"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1929366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8650822A-F5E9-4727-AC90-4B706FAD7266}" type="datetimeFigureOut">
              <a:rPr lang="zh-CN" altLang="en-US" smtClean="0">
                <a:solidFill>
                  <a:prstClr val="black">
                    <a:tint val="75000"/>
                  </a:prstClr>
                </a:solidFill>
              </a:rPr>
              <a:pPr/>
              <a:t>2017/8/2</a:t>
            </a:fld>
            <a:endParaRPr lang="zh-CN"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CN"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DEC2518E-5B71-4206-90D4-E8E5221EC098}"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498712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9"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1"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8650822A-F5E9-4727-AC90-4B706FAD7266}" type="datetimeFigureOut">
              <a:rPr lang="zh-CN" altLang="en-US" smtClean="0">
                <a:solidFill>
                  <a:prstClr val="black">
                    <a:tint val="75000"/>
                  </a:prstClr>
                </a:solidFill>
              </a:rPr>
              <a:pPr/>
              <a:t>2017/8/2</a:t>
            </a:fld>
            <a:endParaRPr lang="zh-CN" alt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zh-CN" alt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DEC2518E-5B71-4206-90D4-E8E5221EC098}"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444411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8650822A-F5E9-4727-AC90-4B706FAD7266}" type="datetimeFigureOut">
              <a:rPr lang="zh-CN" altLang="en-US" smtClean="0">
                <a:solidFill>
                  <a:prstClr val="black">
                    <a:tint val="75000"/>
                  </a:prstClr>
                </a:solidFill>
              </a:rPr>
              <a:pPr/>
              <a:t>2017/8/2</a:t>
            </a:fld>
            <a:endParaRPr lang="zh-CN" alt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zh-CN" alt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DEC2518E-5B71-4206-90D4-E8E5221EC098}"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1023123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650822A-F5E9-4727-AC90-4B706FAD7266}" type="datetimeFigureOut">
              <a:rPr lang="zh-CN" altLang="en-US" smtClean="0">
                <a:solidFill>
                  <a:prstClr val="black">
                    <a:tint val="75000"/>
                  </a:prstClr>
                </a:solidFill>
              </a:rPr>
              <a:pPr/>
              <a:t>2017/8/2</a:t>
            </a:fld>
            <a:endParaRPr lang="zh-CN" alt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zh-CN" alt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DEC2518E-5B71-4206-90D4-E8E5221EC098}"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35538778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8650822A-F5E9-4727-AC90-4B706FAD7266}" type="datetimeFigureOut">
              <a:rPr lang="zh-CN" altLang="en-US" smtClean="0">
                <a:solidFill>
                  <a:prstClr val="black">
                    <a:tint val="75000"/>
                  </a:prstClr>
                </a:solidFill>
              </a:rPr>
              <a:pPr/>
              <a:t>2017/8/2</a:t>
            </a:fld>
            <a:endParaRPr lang="zh-CN"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CN"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DEC2518E-5B71-4206-90D4-E8E5221EC098}"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6605261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8650822A-F5E9-4727-AC90-4B706FAD7266}" type="datetimeFigureOut">
              <a:rPr lang="zh-CN" altLang="en-US" smtClean="0">
                <a:solidFill>
                  <a:prstClr val="black">
                    <a:tint val="75000"/>
                  </a:prstClr>
                </a:solidFill>
              </a:rPr>
              <a:pPr/>
              <a:t>2017/8/2</a:t>
            </a:fld>
            <a:endParaRPr lang="zh-CN"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CN"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DEC2518E-5B71-4206-90D4-E8E5221EC098}"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86461337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8650822A-F5E9-4727-AC90-4B706FAD7266}" type="datetimeFigureOut">
              <a:rPr lang="zh-CN" altLang="en-US" smtClean="0">
                <a:solidFill>
                  <a:prstClr val="black">
                    <a:tint val="75000"/>
                  </a:prstClr>
                </a:solidFill>
              </a:rPr>
              <a:pPr/>
              <a:t>2017/8/2</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EC2518E-5B71-4206-90D4-E8E5221EC098}"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2674277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8650822A-F5E9-4727-AC90-4B706FAD7266}" type="datetimeFigureOut">
              <a:rPr lang="zh-CN" altLang="en-US" smtClean="0">
                <a:solidFill>
                  <a:prstClr val="black">
                    <a:tint val="75000"/>
                  </a:prstClr>
                </a:solidFill>
              </a:rPr>
              <a:pPr/>
              <a:t>2017/8/2</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EC2518E-5B71-4206-90D4-E8E5221EC098}"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7861618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350AE22-6599-4638-BAA4-C8768389C8AB}" type="datetimeFigureOut">
              <a:rPr lang="zh-CN" altLang="en-US" smtClean="0"/>
              <a:t>2017/8/2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601C7C-85B7-4B3F-AE21-1A5F7EFA177E}" type="slidenum">
              <a:rPr lang="zh-CN" altLang="en-US" smtClean="0"/>
              <a:t>‹#›</a:t>
            </a:fld>
            <a:endParaRPr lang="zh-CN" altLang="en-US"/>
          </a:p>
        </p:txBody>
      </p:sp>
    </p:spTree>
    <p:extLst>
      <p:ext uri="{BB962C8B-B14F-4D97-AF65-F5344CB8AC3E}">
        <p14:creationId xmlns:p14="http://schemas.microsoft.com/office/powerpoint/2010/main" val="22314297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50822A-F5E9-4727-AC90-4B706FAD7266}" type="datetimeFigureOut">
              <a:rPr lang="zh-CN" altLang="en-US" smtClean="0">
                <a:solidFill>
                  <a:prstClr val="black">
                    <a:tint val="75000"/>
                  </a:prstClr>
                </a:solidFill>
              </a:rPr>
              <a:pPr/>
              <a:t>2017/8/2</a:t>
            </a:fld>
            <a:endParaRPr lang="zh-CN" altLang="en-US">
              <a:solidFill>
                <a:prstClr val="black">
                  <a:tint val="75000"/>
                </a:prstClr>
              </a:solidFill>
            </a:endParaRPr>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EC2518E-5B71-4206-90D4-E8E5221EC098}"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48797918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web"/><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notesSlide" Target="../notesSlides/notesSlide1.xml"/><Relationship Id="rId5" Type="http://schemas.openxmlformats.org/officeDocument/2006/relationships/slideLayout" Target="../slideLayouts/slideLayout18.xml"/><Relationship Id="rId4" Type="http://schemas.openxmlformats.org/officeDocument/2006/relationships/tags" Target="../tags/tag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949569" y="2391508"/>
            <a:ext cx="10248314" cy="1200329"/>
          </a:xfrm>
          <a:prstGeom prst="rect">
            <a:avLst/>
          </a:prstGeom>
          <a:noFill/>
        </p:spPr>
        <p:txBody>
          <a:bodyPr wrap="square" rtlCol="0">
            <a:spAutoFit/>
          </a:bodyPr>
          <a:lstStyle/>
          <a:p>
            <a:r>
              <a:rPr lang="en-US" altLang="zh-CN" sz="7200" b="1" dirty="0">
                <a:latin typeface="微软雅黑 Light" panose="020B0502040204020203" pitchFamily="34" charset="-122"/>
                <a:ea typeface="微软雅黑 Light" panose="020B0502040204020203" pitchFamily="34" charset="-122"/>
              </a:rPr>
              <a:t>Automatic Colorization</a:t>
            </a:r>
          </a:p>
        </p:txBody>
      </p:sp>
      <p:sp>
        <p:nvSpPr>
          <p:cNvPr id="5" name="文本框 4"/>
          <p:cNvSpPr txBox="1"/>
          <p:nvPr/>
        </p:nvSpPr>
        <p:spPr>
          <a:xfrm>
            <a:off x="7610622" y="4670474"/>
            <a:ext cx="3980364" cy="1292662"/>
          </a:xfrm>
          <a:prstGeom prst="rect">
            <a:avLst/>
          </a:prstGeom>
          <a:noFill/>
        </p:spPr>
        <p:txBody>
          <a:bodyPr wrap="square" rtlCol="0">
            <a:spAutoFit/>
          </a:bodyPr>
          <a:lstStyle/>
          <a:p>
            <a:pPr>
              <a:lnSpc>
                <a:spcPct val="150000"/>
              </a:lnSpc>
            </a:pPr>
            <a:r>
              <a:rPr lang="zh-CN" altLang="en-US" sz="2800" dirty="0">
                <a:latin typeface="微软雅黑 Light" panose="020B0502040204020203" pitchFamily="34" charset="-122"/>
                <a:ea typeface="微软雅黑 Light" panose="020B0502040204020203" pitchFamily="34" charset="-122"/>
              </a:rPr>
              <a:t>数学科学学院</a:t>
            </a:r>
            <a:endParaRPr lang="en-US" altLang="zh-CN" sz="2800" dirty="0">
              <a:latin typeface="微软雅黑 Light" panose="020B0502040204020203" pitchFamily="34" charset="-122"/>
              <a:ea typeface="微软雅黑 Light" panose="020B0502040204020203" pitchFamily="34" charset="-122"/>
            </a:endParaRPr>
          </a:p>
          <a:p>
            <a:pPr>
              <a:lnSpc>
                <a:spcPct val="150000"/>
              </a:lnSpc>
            </a:pPr>
            <a:r>
              <a:rPr lang="en-US" altLang="zh-CN" sz="2400" dirty="0">
                <a:latin typeface="微软雅黑 Light" panose="020B0502040204020203" pitchFamily="34" charset="-122"/>
                <a:ea typeface="微软雅黑 Light" panose="020B0502040204020203" pitchFamily="34" charset="-122"/>
              </a:rPr>
              <a:t>--</a:t>
            </a:r>
            <a:r>
              <a:rPr lang="zh-CN" altLang="en-US" sz="2400" dirty="0">
                <a:latin typeface="微软雅黑 Light" panose="020B0502040204020203" pitchFamily="34" charset="-122"/>
                <a:ea typeface="微软雅黑 Light" panose="020B0502040204020203" pitchFamily="34" charset="-122"/>
              </a:rPr>
              <a:t>张鸿铭，张希</a:t>
            </a:r>
          </a:p>
        </p:txBody>
      </p:sp>
    </p:spTree>
    <p:extLst>
      <p:ext uri="{BB962C8B-B14F-4D97-AF65-F5344CB8AC3E}">
        <p14:creationId xmlns:p14="http://schemas.microsoft.com/office/powerpoint/2010/main" val="38685176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90429" y="1707532"/>
            <a:ext cx="3798276" cy="1077218"/>
          </a:xfrm>
          <a:prstGeom prst="rect">
            <a:avLst/>
          </a:prstGeom>
          <a:noFill/>
        </p:spPr>
        <p:txBody>
          <a:bodyPr wrap="square" rtlCol="0">
            <a:spAutoFit/>
          </a:bodyPr>
          <a:lstStyle/>
          <a:p>
            <a:r>
              <a:rPr lang="en-US" altLang="zh-CN" sz="3200" b="1" dirty="0">
                <a:latin typeface="微软雅黑 Light" panose="020B0502040204020203" pitchFamily="34" charset="-122"/>
                <a:ea typeface="微软雅黑 Light" panose="020B0502040204020203" pitchFamily="34" charset="-122"/>
              </a:rPr>
              <a:t>Some results of </a:t>
            </a:r>
          </a:p>
          <a:p>
            <a:r>
              <a:rPr lang="en-US" altLang="zh-CN" sz="3200" b="1" dirty="0">
                <a:latin typeface="微软雅黑 Light" panose="020B0502040204020203" pitchFamily="34" charset="-122"/>
                <a:ea typeface="微软雅黑 Light" panose="020B0502040204020203" pitchFamily="34" charset="-122"/>
              </a:rPr>
              <a:t>our predictions</a:t>
            </a:r>
            <a:endParaRPr lang="zh-CN" altLang="en-US" sz="3200" b="1" dirty="0">
              <a:latin typeface="微软雅黑 Light" panose="020B0502040204020203" pitchFamily="34" charset="-122"/>
              <a:ea typeface="微软雅黑 Light" panose="020B0502040204020203" pitchFamily="34" charset="-122"/>
            </a:endParaRPr>
          </a:p>
        </p:txBody>
      </p:sp>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98196" y="1179341"/>
            <a:ext cx="6400800" cy="2133600"/>
          </a:xfrm>
          <a:prstGeom prst="rect">
            <a:avLst/>
          </a:prstGeom>
        </p:spPr>
      </p:pic>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7045" y="3540821"/>
            <a:ext cx="6144780" cy="2048260"/>
          </a:xfrm>
          <a:prstGeom prst="rect">
            <a:avLst/>
          </a:prstGeom>
        </p:spPr>
      </p:pic>
    </p:spTree>
    <p:extLst>
      <p:ext uri="{BB962C8B-B14F-4D97-AF65-F5344CB8AC3E}">
        <p14:creationId xmlns:p14="http://schemas.microsoft.com/office/powerpoint/2010/main" val="17334912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36077" y="866451"/>
            <a:ext cx="4220307" cy="584775"/>
          </a:xfrm>
          <a:prstGeom prst="rect">
            <a:avLst/>
          </a:prstGeom>
          <a:noFill/>
        </p:spPr>
        <p:txBody>
          <a:bodyPr wrap="square" rtlCol="0">
            <a:spAutoFit/>
          </a:bodyPr>
          <a:lstStyle/>
          <a:p>
            <a:r>
              <a:rPr lang="en-US" altLang="zh-CN" sz="3200" dirty="0">
                <a:latin typeface="微软雅黑 Light" panose="020B0502040204020203" pitchFamily="34" charset="-122"/>
                <a:ea typeface="微软雅黑 Light" panose="020B0502040204020203" pitchFamily="34" charset="-122"/>
              </a:rPr>
              <a:t>Image Color Space</a:t>
            </a:r>
            <a:endParaRPr lang="zh-CN" altLang="en-US" sz="3200" dirty="0">
              <a:latin typeface="微软雅黑 Light" panose="020B0502040204020203" pitchFamily="34" charset="-122"/>
              <a:ea typeface="微软雅黑 Light" panose="020B0502040204020203" pitchFamily="34" charset="-122"/>
            </a:endParaRPr>
          </a:p>
        </p:txBody>
      </p:sp>
      <p:sp>
        <p:nvSpPr>
          <p:cNvPr id="4" name="文本框 3"/>
          <p:cNvSpPr txBox="1"/>
          <p:nvPr/>
        </p:nvSpPr>
        <p:spPr>
          <a:xfrm>
            <a:off x="1378634" y="2348369"/>
            <a:ext cx="968535" cy="584775"/>
          </a:xfrm>
          <a:prstGeom prst="rect">
            <a:avLst/>
          </a:prstGeom>
          <a:noFill/>
        </p:spPr>
        <p:txBody>
          <a:bodyPr wrap="none" rtlCol="0">
            <a:spAutoFit/>
          </a:bodyPr>
          <a:lstStyle/>
          <a:p>
            <a:r>
              <a:rPr lang="en-US" altLang="zh-CN" sz="3200" dirty="0">
                <a:latin typeface="微软雅黑 Light" panose="020B0502040204020203" pitchFamily="34" charset="-122"/>
                <a:ea typeface="微软雅黑 Light" panose="020B0502040204020203" pitchFamily="34" charset="-122"/>
              </a:rPr>
              <a:t>RGB</a:t>
            </a:r>
          </a:p>
        </p:txBody>
      </p:sp>
      <p:sp>
        <p:nvSpPr>
          <p:cNvPr id="5" name="文本框 4"/>
          <p:cNvSpPr txBox="1"/>
          <p:nvPr/>
        </p:nvSpPr>
        <p:spPr>
          <a:xfrm>
            <a:off x="1378634" y="4706792"/>
            <a:ext cx="978153" cy="584775"/>
          </a:xfrm>
          <a:prstGeom prst="rect">
            <a:avLst/>
          </a:prstGeom>
          <a:noFill/>
        </p:spPr>
        <p:txBody>
          <a:bodyPr wrap="none" rtlCol="0">
            <a:spAutoFit/>
          </a:bodyPr>
          <a:lstStyle/>
          <a:p>
            <a:r>
              <a:rPr lang="en-US" altLang="zh-CN" sz="3200" dirty="0">
                <a:latin typeface="微软雅黑 Light" panose="020B0502040204020203" pitchFamily="34" charset="-122"/>
                <a:ea typeface="微软雅黑 Light" panose="020B0502040204020203" pitchFamily="34" charset="-122"/>
              </a:rPr>
              <a:t>YUV</a:t>
            </a:r>
            <a:endParaRPr lang="zh-CN" altLang="en-US" sz="3200" dirty="0">
              <a:latin typeface="微软雅黑 Light" panose="020B0502040204020203" pitchFamily="34" charset="-122"/>
              <a:ea typeface="微软雅黑 Light" panose="020B0502040204020203" pitchFamily="34" charset="-122"/>
            </a:endParaRPr>
          </a:p>
        </p:txBody>
      </p:sp>
      <p:sp>
        <p:nvSpPr>
          <p:cNvPr id="3" name="文本框 2"/>
          <p:cNvSpPr txBox="1"/>
          <p:nvPr/>
        </p:nvSpPr>
        <p:spPr>
          <a:xfrm>
            <a:off x="2846230" y="2194480"/>
            <a:ext cx="9040969" cy="1477328"/>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Ø"/>
            </a:pPr>
            <a:r>
              <a:rPr lang="en-US" altLang="zh-CN" sz="2000" dirty="0">
                <a:latin typeface="微软雅黑 Light" panose="020B0502040204020203" pitchFamily="34" charset="-122"/>
                <a:ea typeface="微软雅黑 Light" panose="020B0502040204020203" pitchFamily="34" charset="-122"/>
              </a:rPr>
              <a:t>an additive color model which added red, green and blue light </a:t>
            </a:r>
          </a:p>
          <a:p>
            <a:pPr marL="342900" indent="-342900" algn="just">
              <a:lnSpc>
                <a:spcPct val="150000"/>
              </a:lnSpc>
              <a:buFont typeface="Wingdings" panose="05000000000000000000" pitchFamily="2" charset="2"/>
              <a:buChar char="Ø"/>
            </a:pPr>
            <a:r>
              <a:rPr lang="en-US" altLang="zh-CN" sz="2000" dirty="0">
                <a:latin typeface="微软雅黑 Light" panose="020B0502040204020203" pitchFamily="34" charset="-122"/>
                <a:ea typeface="微软雅黑 Light" panose="020B0502040204020203" pitchFamily="34" charset="-122"/>
              </a:rPr>
              <a:t>for the sensing, representation and display of images in electronic systems</a:t>
            </a:r>
          </a:p>
          <a:p>
            <a:pPr marL="342900" indent="-342900" algn="just">
              <a:lnSpc>
                <a:spcPct val="150000"/>
              </a:lnSpc>
              <a:buFont typeface="Wingdings" panose="05000000000000000000" pitchFamily="2" charset="2"/>
              <a:buChar char="Ø"/>
            </a:pPr>
            <a:r>
              <a:rPr lang="en-US" altLang="zh-CN" sz="2000" dirty="0">
                <a:latin typeface="微软雅黑 Light" panose="020B0502040204020203" pitchFamily="34" charset="-122"/>
                <a:ea typeface="微软雅黑 Light" panose="020B0502040204020203" pitchFamily="34" charset="-122"/>
              </a:rPr>
              <a:t>used in conventional photography. </a:t>
            </a:r>
            <a:endParaRPr lang="zh-CN" altLang="en-US" sz="2000" dirty="0">
              <a:latin typeface="微软雅黑 Light" panose="020B0502040204020203" pitchFamily="34" charset="-122"/>
              <a:ea typeface="微软雅黑 Light" panose="020B0502040204020203" pitchFamily="34" charset="-122"/>
            </a:endParaRPr>
          </a:p>
        </p:txBody>
      </p:sp>
      <p:sp>
        <p:nvSpPr>
          <p:cNvPr id="9" name="矩形 8"/>
          <p:cNvSpPr/>
          <p:nvPr/>
        </p:nvSpPr>
        <p:spPr>
          <a:xfrm>
            <a:off x="2846230" y="4260516"/>
            <a:ext cx="7687617" cy="1477328"/>
          </a:xfrm>
          <a:prstGeom prst="rect">
            <a:avLst/>
          </a:prstGeom>
        </p:spPr>
        <p:txBody>
          <a:bodyPr wrap="none">
            <a:spAutoFit/>
          </a:bodyPr>
          <a:lstStyle/>
          <a:p>
            <a:pPr marL="285750" indent="-285750" algn="just">
              <a:lnSpc>
                <a:spcPct val="150000"/>
              </a:lnSpc>
              <a:buFont typeface="Wingdings" panose="05000000000000000000" pitchFamily="2" charset="2"/>
              <a:buChar char="Ø"/>
            </a:pPr>
            <a:r>
              <a:rPr lang="en-US" altLang="zh-CN" sz="2000" dirty="0">
                <a:latin typeface="微软雅黑 Light" panose="020B0502040204020203" pitchFamily="34" charset="-122"/>
                <a:ea typeface="微软雅黑 Light" panose="020B0502040204020203" pitchFamily="34" charset="-122"/>
              </a:rPr>
              <a:t> a color space typically used as part of a color image pipeline</a:t>
            </a:r>
          </a:p>
          <a:p>
            <a:pPr marL="285750" indent="-285750" algn="just">
              <a:lnSpc>
                <a:spcPct val="150000"/>
              </a:lnSpc>
              <a:buFont typeface="Wingdings" panose="05000000000000000000" pitchFamily="2" charset="2"/>
              <a:buChar char="Ø"/>
            </a:pPr>
            <a:r>
              <a:rPr lang="en-US" altLang="zh-CN" sz="2000" dirty="0">
                <a:latin typeface="微软雅黑 Light" panose="020B0502040204020203" pitchFamily="34" charset="-122"/>
                <a:ea typeface="微软雅黑 Light" panose="020B0502040204020203" pitchFamily="34" charset="-122"/>
              </a:rPr>
              <a:t> </a:t>
            </a:r>
            <a:r>
              <a:rPr lang="en-US" altLang="zh-CN" sz="2000" dirty="0" err="1">
                <a:latin typeface="微软雅黑 Light" panose="020B0502040204020203" pitchFamily="34" charset="-122"/>
                <a:ea typeface="微软雅黑 Light" panose="020B0502040204020203" pitchFamily="34" charset="-122"/>
              </a:rPr>
              <a:t>luma</a:t>
            </a:r>
            <a:r>
              <a:rPr lang="en-US" altLang="zh-CN" sz="2000" dirty="0">
                <a:latin typeface="微软雅黑 Light" panose="020B0502040204020203" pitchFamily="34" charset="-122"/>
                <a:ea typeface="微软雅黑 Light" panose="020B0502040204020203" pitchFamily="34" charset="-122"/>
              </a:rPr>
              <a:t> component already existed as the black and white signal</a:t>
            </a:r>
          </a:p>
          <a:p>
            <a:pPr marL="285750" indent="-285750" algn="just">
              <a:lnSpc>
                <a:spcPct val="150000"/>
              </a:lnSpc>
              <a:buFont typeface="Wingdings" panose="05000000000000000000" pitchFamily="2" charset="2"/>
              <a:buChar char="Ø"/>
            </a:pPr>
            <a:r>
              <a:rPr lang="en-US" altLang="zh-CN" sz="2000" dirty="0">
                <a:latin typeface="微软雅黑 Light" panose="020B0502040204020203" pitchFamily="34" charset="-122"/>
                <a:ea typeface="微软雅黑 Light" panose="020B0502040204020203" pitchFamily="34" charset="-122"/>
              </a:rPr>
              <a:t> the UV signal is able to add color</a:t>
            </a:r>
          </a:p>
        </p:txBody>
      </p:sp>
    </p:spTree>
    <p:extLst>
      <p:ext uri="{BB962C8B-B14F-4D97-AF65-F5344CB8AC3E}">
        <p14:creationId xmlns:p14="http://schemas.microsoft.com/office/powerpoint/2010/main" val="9656936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36078" y="866451"/>
            <a:ext cx="2676823" cy="584775"/>
          </a:xfrm>
          <a:prstGeom prst="rect">
            <a:avLst/>
          </a:prstGeom>
          <a:noFill/>
        </p:spPr>
        <p:txBody>
          <a:bodyPr wrap="square" rtlCol="0">
            <a:spAutoFit/>
          </a:bodyPr>
          <a:lstStyle/>
          <a:p>
            <a:r>
              <a:rPr lang="en-US" altLang="zh-CN" sz="3200" dirty="0">
                <a:latin typeface="微软雅黑 Light" panose="020B0502040204020203" pitchFamily="34" charset="-122"/>
                <a:ea typeface="微软雅黑 Light" panose="020B0502040204020203" pitchFamily="34" charset="-122"/>
              </a:rPr>
              <a:t>RGB to YUV</a:t>
            </a:r>
            <a:endParaRPr lang="zh-CN" altLang="en-US" sz="3200" dirty="0">
              <a:latin typeface="微软雅黑 Light" panose="020B0502040204020203" pitchFamily="34" charset="-122"/>
              <a:ea typeface="微软雅黑 Light" panose="020B0502040204020203" pitchFamily="34" charset="-122"/>
            </a:endParaRPr>
          </a:p>
        </p:txBody>
      </p:sp>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47741" y="2331074"/>
            <a:ext cx="8036417" cy="2125015"/>
          </a:xfrm>
          <a:prstGeom prst="rect">
            <a:avLst/>
          </a:prstGeom>
        </p:spPr>
      </p:pic>
    </p:spTree>
    <p:extLst>
      <p:ext uri="{BB962C8B-B14F-4D97-AF65-F5344CB8AC3E}">
        <p14:creationId xmlns:p14="http://schemas.microsoft.com/office/powerpoint/2010/main" val="12018586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50007" y="914399"/>
            <a:ext cx="4108360" cy="584775"/>
          </a:xfrm>
          <a:prstGeom prst="rect">
            <a:avLst/>
          </a:prstGeom>
          <a:noFill/>
        </p:spPr>
        <p:txBody>
          <a:bodyPr wrap="square" rtlCol="0">
            <a:spAutoFit/>
          </a:bodyPr>
          <a:lstStyle/>
          <a:p>
            <a:r>
              <a:rPr lang="en-US" altLang="zh-CN" sz="3200" dirty="0">
                <a:latin typeface="微软雅黑 Light" panose="020B0502040204020203" pitchFamily="34" charset="-122"/>
                <a:ea typeface="微软雅黑 Light" panose="020B0502040204020203" pitchFamily="34" charset="-122"/>
              </a:rPr>
              <a:t>Transfer Learning</a:t>
            </a:r>
            <a:endParaRPr lang="zh-CN" altLang="en-US" sz="3200" dirty="0">
              <a:latin typeface="微软雅黑 Light" panose="020B0502040204020203" pitchFamily="34" charset="-122"/>
              <a:ea typeface="微软雅黑 Light" panose="020B0502040204020203" pitchFamily="34" charset="-122"/>
            </a:endParaRPr>
          </a:p>
        </p:txBody>
      </p:sp>
      <p:sp>
        <p:nvSpPr>
          <p:cNvPr id="3" name="文本框 2"/>
          <p:cNvSpPr txBox="1"/>
          <p:nvPr/>
        </p:nvSpPr>
        <p:spPr>
          <a:xfrm>
            <a:off x="669702" y="1996226"/>
            <a:ext cx="9968247" cy="2862322"/>
          </a:xfrm>
          <a:prstGeom prst="rect">
            <a:avLst/>
          </a:prstGeom>
          <a:noFill/>
        </p:spPr>
        <p:txBody>
          <a:bodyPr wrap="square" rtlCol="0">
            <a:spAutoFit/>
          </a:bodyPr>
          <a:lstStyle/>
          <a:p>
            <a:pPr marL="342900" algn="just">
              <a:lnSpc>
                <a:spcPct val="150000"/>
              </a:lnSpc>
              <a:buFont typeface="Wingdings" panose="05000000000000000000" pitchFamily="2" charset="2"/>
              <a:buChar char="Ø"/>
            </a:pPr>
            <a:r>
              <a:rPr lang="en-US" altLang="zh-CN" sz="2000" dirty="0">
                <a:latin typeface="微软雅黑 Light" panose="020B0502040204020203" pitchFamily="34" charset="-122"/>
                <a:ea typeface="微软雅黑 Light" panose="020B0502040204020203" pitchFamily="34" charset="-122"/>
              </a:rPr>
              <a:t>Transfer learning or inductive transfer is a research problem in machine learning that focuses on storing knowledge gained while solving one problem and applying it to a different but related problem.  For example, knowledge gained while learning to recognize cars could apply when trying to recognize trucks. This area of research bears some relation to the long history of psychological literature on transfer of learning, although formal ties between the two fields are limited.</a:t>
            </a:r>
            <a:endParaRPr lang="zh-CN" altLang="en-US" sz="2000" dirty="0">
              <a:latin typeface="微软雅黑 Light" panose="020B0502040204020203" pitchFamily="34" charset="-122"/>
              <a:ea typeface="微软雅黑 Light" panose="020B0502040204020203" pitchFamily="34" charset="-122"/>
            </a:endParaRPr>
          </a:p>
        </p:txBody>
      </p:sp>
    </p:spTree>
    <p:extLst>
      <p:ext uri="{BB962C8B-B14F-4D97-AF65-F5344CB8AC3E}">
        <p14:creationId xmlns:p14="http://schemas.microsoft.com/office/powerpoint/2010/main" val="42937318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50007" y="914399"/>
            <a:ext cx="4108360" cy="584775"/>
          </a:xfrm>
          <a:prstGeom prst="rect">
            <a:avLst/>
          </a:prstGeom>
          <a:noFill/>
        </p:spPr>
        <p:txBody>
          <a:bodyPr wrap="square" rtlCol="0">
            <a:spAutoFit/>
          </a:bodyPr>
          <a:lstStyle/>
          <a:p>
            <a:r>
              <a:rPr lang="en-US" altLang="zh-CN" sz="3200" dirty="0">
                <a:latin typeface="微软雅黑 Light" panose="020B0502040204020203" pitchFamily="34" charset="-122"/>
                <a:ea typeface="微软雅黑 Light" panose="020B0502040204020203" pitchFamily="34" charset="-122"/>
              </a:rPr>
              <a:t>Transfer Learning</a:t>
            </a:r>
            <a:endParaRPr lang="zh-CN" altLang="en-US" sz="3200" dirty="0">
              <a:latin typeface="微软雅黑 Light" panose="020B0502040204020203" pitchFamily="34" charset="-122"/>
              <a:ea typeface="微软雅黑 Light" panose="020B0502040204020203" pitchFamily="34" charset="-122"/>
            </a:endParaRP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84327" y="1857162"/>
            <a:ext cx="8182401" cy="3809542"/>
          </a:xfrm>
          <a:prstGeom prst="rect">
            <a:avLst/>
          </a:prstGeom>
        </p:spPr>
      </p:pic>
    </p:spTree>
    <p:extLst>
      <p:ext uri="{BB962C8B-B14F-4D97-AF65-F5344CB8AC3E}">
        <p14:creationId xmlns:p14="http://schemas.microsoft.com/office/powerpoint/2010/main" val="22020019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281446" y="605307"/>
            <a:ext cx="9066727" cy="2954655"/>
          </a:xfrm>
          <a:prstGeom prst="rect">
            <a:avLst/>
          </a:prstGeom>
          <a:noFill/>
        </p:spPr>
        <p:txBody>
          <a:bodyPr wrap="square" rtlCol="0">
            <a:spAutoFit/>
          </a:bodyPr>
          <a:lstStyle/>
          <a:p>
            <a:pPr marL="457200" algn="just">
              <a:lnSpc>
                <a:spcPct val="150000"/>
              </a:lnSpc>
              <a:buFont typeface="Wingdings" panose="05000000000000000000" pitchFamily="2" charset="2"/>
              <a:buChar char="Ø"/>
            </a:pPr>
            <a:r>
              <a:rPr lang="en-US" altLang="zh-CN" sz="2800" dirty="0">
                <a:latin typeface="微软雅黑 Light" panose="020B0502040204020203" pitchFamily="34" charset="-122"/>
                <a:ea typeface="微软雅黑 Light" panose="020B0502040204020203" pitchFamily="34" charset="-122"/>
              </a:rPr>
              <a:t> </a:t>
            </a:r>
            <a:r>
              <a:rPr lang="en-US" altLang="zh-CN" sz="2400" dirty="0">
                <a:latin typeface="微软雅黑 Light" panose="020B0502040204020203" pitchFamily="34" charset="-122"/>
                <a:ea typeface="微软雅黑 Light" panose="020B0502040204020203" pitchFamily="34" charset="-122"/>
              </a:rPr>
              <a:t>In CNN classification models, more information can be extracted than just the final classification. It turns out that objects like car wheels and people already start becoming identifiable by layer three. Intermediate layers in classification models can provide useful color information.</a:t>
            </a:r>
            <a:endParaRPr lang="zh-CN" altLang="en-US" sz="2400" dirty="0">
              <a:latin typeface="微软雅黑 Light" panose="020B0502040204020203" pitchFamily="34" charset="-122"/>
              <a:ea typeface="微软雅黑 Light" panose="020B0502040204020203" pitchFamily="34" charset="-122"/>
            </a:endParaRPr>
          </a:p>
        </p:txBody>
      </p:sp>
      <p:sp>
        <p:nvSpPr>
          <p:cNvPr id="3" name="文本框 2"/>
          <p:cNvSpPr txBox="1"/>
          <p:nvPr/>
        </p:nvSpPr>
        <p:spPr>
          <a:xfrm>
            <a:off x="1423114" y="3760630"/>
            <a:ext cx="8925059" cy="2308324"/>
          </a:xfrm>
          <a:prstGeom prst="rect">
            <a:avLst/>
          </a:prstGeom>
          <a:noFill/>
        </p:spPr>
        <p:txBody>
          <a:bodyPr wrap="square" rtlCol="0">
            <a:spAutoFit/>
          </a:bodyPr>
          <a:lstStyle/>
          <a:p>
            <a:pPr marL="342900" algn="just">
              <a:lnSpc>
                <a:spcPct val="150000"/>
              </a:lnSpc>
              <a:buFont typeface="Wingdings" panose="05000000000000000000" pitchFamily="2" charset="2"/>
              <a:buChar char="Ø"/>
            </a:pPr>
            <a:r>
              <a:rPr lang="en-US" altLang="zh-CN" sz="2400" dirty="0">
                <a:latin typeface="微软雅黑 Light" panose="020B0502040204020203" pitchFamily="34" charset="-122"/>
                <a:ea typeface="微软雅黑 Light" panose="020B0502040204020203" pitchFamily="34" charset="-122"/>
              </a:rPr>
              <a:t> Here we use a pre-trained image classification model to extract features for colorization. We choose the VGG-16 model because it has a simple architecture yet still competitive.</a:t>
            </a:r>
            <a:endParaRPr lang="zh-CN" altLang="en-US" sz="2400" dirty="0">
              <a:latin typeface="微软雅黑 Light" panose="020B0502040204020203" pitchFamily="34" charset="-122"/>
              <a:ea typeface="微软雅黑 Light" panose="020B0502040204020203" pitchFamily="34" charset="-122"/>
            </a:endParaRPr>
          </a:p>
        </p:txBody>
      </p:sp>
    </p:spTree>
    <p:extLst>
      <p:ext uri="{BB962C8B-B14F-4D97-AF65-F5344CB8AC3E}">
        <p14:creationId xmlns:p14="http://schemas.microsoft.com/office/powerpoint/2010/main" val="3060089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759854" y="708337"/>
            <a:ext cx="3670479" cy="584775"/>
          </a:xfrm>
          <a:prstGeom prst="rect">
            <a:avLst/>
          </a:prstGeom>
          <a:noFill/>
        </p:spPr>
        <p:txBody>
          <a:bodyPr wrap="square" rtlCol="0">
            <a:spAutoFit/>
          </a:bodyPr>
          <a:lstStyle/>
          <a:p>
            <a:r>
              <a:rPr lang="en-US" altLang="zh-CN" sz="3200" dirty="0">
                <a:latin typeface="微软雅黑 Light" panose="020B0502040204020203" pitchFamily="34" charset="-122"/>
                <a:ea typeface="微软雅黑 Light" panose="020B0502040204020203" pitchFamily="34" charset="-122"/>
              </a:rPr>
              <a:t>Structure of Vgg16</a:t>
            </a: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98051" y="1477805"/>
            <a:ext cx="8427221" cy="4948752"/>
          </a:xfrm>
          <a:prstGeom prst="rect">
            <a:avLst/>
          </a:prstGeom>
        </p:spPr>
      </p:pic>
    </p:spTree>
    <p:extLst>
      <p:ext uri="{BB962C8B-B14F-4D97-AF65-F5344CB8AC3E}">
        <p14:creationId xmlns:p14="http://schemas.microsoft.com/office/powerpoint/2010/main" val="28150806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59854" y="708337"/>
            <a:ext cx="3670479" cy="584775"/>
          </a:xfrm>
          <a:prstGeom prst="rect">
            <a:avLst/>
          </a:prstGeom>
          <a:noFill/>
        </p:spPr>
        <p:txBody>
          <a:bodyPr wrap="square" rtlCol="0">
            <a:spAutoFit/>
          </a:bodyPr>
          <a:lstStyle/>
          <a:p>
            <a:r>
              <a:rPr lang="en-US" altLang="zh-CN" sz="3200" dirty="0">
                <a:latin typeface="微软雅黑 Light" panose="020B0502040204020203" pitchFamily="34" charset="-122"/>
                <a:ea typeface="微软雅黑 Light" panose="020B0502040204020203" pitchFamily="34" charset="-122"/>
              </a:rPr>
              <a:t>Hyper Columns</a:t>
            </a:r>
          </a:p>
        </p:txBody>
      </p:sp>
      <p:sp>
        <p:nvSpPr>
          <p:cNvPr id="3" name="文本框 2"/>
          <p:cNvSpPr txBox="1"/>
          <p:nvPr/>
        </p:nvSpPr>
        <p:spPr>
          <a:xfrm>
            <a:off x="1558343" y="1996225"/>
            <a:ext cx="9195516" cy="2862322"/>
          </a:xfrm>
          <a:prstGeom prst="rect">
            <a:avLst/>
          </a:prstGeom>
          <a:noFill/>
        </p:spPr>
        <p:txBody>
          <a:bodyPr wrap="square" rtlCol="0">
            <a:spAutoFit/>
          </a:bodyPr>
          <a:lstStyle/>
          <a:p>
            <a:pPr marL="285750" algn="just">
              <a:lnSpc>
                <a:spcPct val="150000"/>
              </a:lnSpc>
              <a:buFont typeface="Wingdings" panose="05000000000000000000" pitchFamily="2" charset="2"/>
              <a:buChar char="Ø"/>
            </a:pPr>
            <a:r>
              <a:rPr lang="en-US" altLang="zh-CN" sz="2400" dirty="0">
                <a:latin typeface="微软雅黑 Light" panose="020B0502040204020203" pitchFamily="34" charset="-122"/>
                <a:ea typeface="微软雅黑 Light" panose="020B0502040204020203" pitchFamily="34" charset="-122"/>
              </a:rPr>
              <a:t> A hyper column for a pixel in the input image is a vector of all the activations above that pixel. The way I implemented this was by forwarding an image thru the VGG network and then extracting a few layers, upscaling them to the original image size, and concatenating them all together.</a:t>
            </a:r>
            <a:endParaRPr lang="zh-CN" altLang="en-US" sz="2400" dirty="0">
              <a:latin typeface="微软雅黑 Light" panose="020B0502040204020203" pitchFamily="34" charset="-122"/>
              <a:ea typeface="微软雅黑 Light" panose="020B0502040204020203" pitchFamily="34" charset="-122"/>
            </a:endParaRPr>
          </a:p>
        </p:txBody>
      </p:sp>
    </p:spTree>
    <p:extLst>
      <p:ext uri="{BB962C8B-B14F-4D97-AF65-F5344CB8AC3E}">
        <p14:creationId xmlns:p14="http://schemas.microsoft.com/office/powerpoint/2010/main" val="8125173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59854" y="708337"/>
            <a:ext cx="3670479" cy="584775"/>
          </a:xfrm>
          <a:prstGeom prst="rect">
            <a:avLst/>
          </a:prstGeom>
          <a:noFill/>
        </p:spPr>
        <p:txBody>
          <a:bodyPr wrap="square" rtlCol="0">
            <a:spAutoFit/>
          </a:bodyPr>
          <a:lstStyle/>
          <a:p>
            <a:r>
              <a:rPr lang="en-US" altLang="zh-CN" sz="3200" dirty="0">
                <a:latin typeface="微软雅黑 Light" panose="020B0502040204020203" pitchFamily="34" charset="-122"/>
                <a:ea typeface="微软雅黑 Light" panose="020B0502040204020203" pitchFamily="34" charset="-122"/>
              </a:rPr>
              <a:t>Hyper Columns</a:t>
            </a:r>
          </a:p>
        </p:txBody>
      </p:sp>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0211" y="1744610"/>
            <a:ext cx="5681969" cy="4295582"/>
          </a:xfrm>
          <a:prstGeom prst="rect">
            <a:avLst/>
          </a:prstGeom>
        </p:spPr>
      </p:pic>
    </p:spTree>
    <p:extLst>
      <p:ext uri="{BB962C8B-B14F-4D97-AF65-F5344CB8AC3E}">
        <p14:creationId xmlns:p14="http://schemas.microsoft.com/office/powerpoint/2010/main" val="29162102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379670" y="772732"/>
            <a:ext cx="4532760" cy="1569660"/>
          </a:xfrm>
          <a:prstGeom prst="rect">
            <a:avLst/>
          </a:prstGeom>
          <a:noFill/>
        </p:spPr>
        <p:txBody>
          <a:bodyPr wrap="square" rtlCol="0">
            <a:spAutoFit/>
          </a:bodyPr>
          <a:lstStyle/>
          <a:p>
            <a:pPr>
              <a:lnSpc>
                <a:spcPct val="150000"/>
              </a:lnSpc>
            </a:pPr>
            <a:r>
              <a:rPr lang="en-US" altLang="zh-CN" sz="3200" dirty="0">
                <a:latin typeface="微软雅黑 Light" panose="020B0502040204020203" pitchFamily="34" charset="-122"/>
                <a:ea typeface="微软雅黑 Light" panose="020B0502040204020203" pitchFamily="34" charset="-122"/>
              </a:rPr>
              <a:t>Structure of Our Model  </a:t>
            </a:r>
          </a:p>
          <a:p>
            <a:pPr>
              <a:lnSpc>
                <a:spcPct val="150000"/>
              </a:lnSpc>
            </a:pPr>
            <a:r>
              <a:rPr lang="en-US" altLang="zh-CN" sz="3200" dirty="0">
                <a:latin typeface="微软雅黑 Light" panose="020B0502040204020203" pitchFamily="34" charset="-122"/>
                <a:ea typeface="微软雅黑 Light" panose="020B0502040204020203" pitchFamily="34" charset="-122"/>
              </a:rPr>
              <a:t>              --</a:t>
            </a:r>
            <a:r>
              <a:rPr lang="en-US" altLang="zh-CN" sz="2400" dirty="0">
                <a:latin typeface="微软雅黑 Light" panose="020B0502040204020203" pitchFamily="34" charset="-122"/>
                <a:ea typeface="微软雅黑 Light" panose="020B0502040204020203" pitchFamily="34" charset="-122"/>
              </a:rPr>
              <a:t>Hyper Columns</a:t>
            </a:r>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6943" y="682580"/>
            <a:ext cx="5324475" cy="5572125"/>
          </a:xfrm>
          <a:prstGeom prst="rect">
            <a:avLst/>
          </a:prstGeom>
        </p:spPr>
      </p:pic>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67480" y="3027339"/>
            <a:ext cx="4610100" cy="3343275"/>
          </a:xfrm>
          <a:prstGeom prst="rect">
            <a:avLst/>
          </a:prstGeom>
        </p:spPr>
      </p:pic>
    </p:spTree>
    <p:extLst>
      <p:ext uri="{BB962C8B-B14F-4D97-AF65-F5344CB8AC3E}">
        <p14:creationId xmlns:p14="http://schemas.microsoft.com/office/powerpoint/2010/main" val="991361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02276" y="1223492"/>
            <a:ext cx="4520485" cy="1384995"/>
          </a:xfrm>
          <a:prstGeom prst="rect">
            <a:avLst/>
          </a:prstGeom>
          <a:noFill/>
        </p:spPr>
        <p:txBody>
          <a:bodyPr wrap="square" rtlCol="0">
            <a:spAutoFit/>
          </a:bodyPr>
          <a:lstStyle/>
          <a:p>
            <a:pPr>
              <a:lnSpc>
                <a:spcPct val="150000"/>
              </a:lnSpc>
            </a:pPr>
            <a:r>
              <a:rPr lang="en-US" altLang="zh-CN" sz="3200" dirty="0">
                <a:solidFill>
                  <a:prstClr val="black"/>
                </a:solidFill>
                <a:latin typeface="微软雅黑 Light" panose="020B0502040204020203" pitchFamily="34" charset="-122"/>
                <a:ea typeface="微软雅黑 Light" panose="020B0502040204020203" pitchFamily="34" charset="-122"/>
              </a:rPr>
              <a:t>Structure of Our Model  </a:t>
            </a:r>
          </a:p>
          <a:p>
            <a:pPr>
              <a:lnSpc>
                <a:spcPct val="150000"/>
              </a:lnSpc>
            </a:pPr>
            <a:r>
              <a:rPr lang="en-US" altLang="zh-CN" sz="2400" dirty="0">
                <a:solidFill>
                  <a:prstClr val="black"/>
                </a:solidFill>
                <a:latin typeface="微软雅黑 Light" panose="020B0502040204020203" pitchFamily="34" charset="-122"/>
                <a:ea typeface="微软雅黑 Light" panose="020B0502040204020203" pitchFamily="34" charset="-122"/>
              </a:rPr>
              <a:t>                   --</a:t>
            </a:r>
            <a:r>
              <a:rPr lang="en-US" altLang="zh-CN" sz="2400" dirty="0">
                <a:latin typeface="微软雅黑 Light" panose="020B0502040204020203" pitchFamily="34" charset="-122"/>
                <a:ea typeface="微软雅黑 Light" panose="020B0502040204020203" pitchFamily="34" charset="-122"/>
              </a:rPr>
              <a:t>residual encoder</a:t>
            </a:r>
            <a:endParaRPr lang="zh-CN" altLang="en-US" sz="2400" dirty="0">
              <a:latin typeface="微软雅黑 Light" panose="020B0502040204020203" pitchFamily="34" charset="-122"/>
              <a:ea typeface="微软雅黑 Light" panose="020B0502040204020203" pitchFamily="34" charset="-122"/>
            </a:endParaRP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42918" y="133350"/>
            <a:ext cx="5069273" cy="6724650"/>
          </a:xfrm>
          <a:prstGeom prst="rect">
            <a:avLst/>
          </a:prstGeom>
        </p:spPr>
      </p:pic>
    </p:spTree>
    <p:extLst>
      <p:ext uri="{BB962C8B-B14F-4D97-AF65-F5344CB8AC3E}">
        <p14:creationId xmlns:p14="http://schemas.microsoft.com/office/powerpoint/2010/main" val="36732041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759855" y="708337"/>
            <a:ext cx="2807594" cy="584775"/>
          </a:xfrm>
          <a:prstGeom prst="rect">
            <a:avLst/>
          </a:prstGeom>
          <a:noFill/>
        </p:spPr>
        <p:txBody>
          <a:bodyPr wrap="square" rtlCol="0">
            <a:spAutoFit/>
          </a:bodyPr>
          <a:lstStyle/>
          <a:p>
            <a:r>
              <a:rPr lang="en-US" altLang="zh-CN" sz="3200" dirty="0">
                <a:latin typeface="微软雅黑 Light" panose="020B0502040204020203" pitchFamily="34" charset="-122"/>
                <a:ea typeface="微软雅黑 Light" panose="020B0502040204020203" pitchFamily="34" charset="-122"/>
              </a:rPr>
              <a:t>Loss Function</a:t>
            </a: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68757" y="2368997"/>
            <a:ext cx="9906000" cy="1270000"/>
          </a:xfrm>
          <a:prstGeom prst="rect">
            <a:avLst/>
          </a:prstGeom>
        </p:spPr>
      </p:pic>
    </p:spTree>
    <p:extLst>
      <p:ext uri="{BB962C8B-B14F-4D97-AF65-F5344CB8AC3E}">
        <p14:creationId xmlns:p14="http://schemas.microsoft.com/office/powerpoint/2010/main" val="29061493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759854" y="708337"/>
            <a:ext cx="3696235" cy="584775"/>
          </a:xfrm>
          <a:prstGeom prst="rect">
            <a:avLst/>
          </a:prstGeom>
          <a:noFill/>
        </p:spPr>
        <p:txBody>
          <a:bodyPr wrap="square" rtlCol="0">
            <a:spAutoFit/>
          </a:bodyPr>
          <a:lstStyle/>
          <a:p>
            <a:r>
              <a:rPr lang="en-US" altLang="zh-CN" sz="3200" dirty="0">
                <a:latin typeface="微软雅黑 Light" panose="020B0502040204020203" pitchFamily="34" charset="-122"/>
                <a:ea typeface="微软雅黑 Light" panose="020B0502040204020203" pitchFamily="34" charset="-122"/>
              </a:rPr>
              <a:t>Image Data Set</a:t>
            </a:r>
          </a:p>
        </p:txBody>
      </p:sp>
      <p:sp>
        <p:nvSpPr>
          <p:cNvPr id="4" name="文本框 3"/>
          <p:cNvSpPr txBox="1"/>
          <p:nvPr/>
        </p:nvSpPr>
        <p:spPr>
          <a:xfrm>
            <a:off x="1120461" y="2209942"/>
            <a:ext cx="9092484" cy="1938992"/>
          </a:xfrm>
          <a:prstGeom prst="rect">
            <a:avLst/>
          </a:prstGeom>
          <a:noFill/>
        </p:spPr>
        <p:txBody>
          <a:bodyPr wrap="square" rtlCol="0">
            <a:spAutoFit/>
          </a:bodyPr>
          <a:lstStyle/>
          <a:p>
            <a:pPr marL="285750" algn="just">
              <a:lnSpc>
                <a:spcPct val="150000"/>
              </a:lnSpc>
              <a:buFont typeface="Wingdings" panose="05000000000000000000" pitchFamily="2" charset="2"/>
              <a:buChar char="Ø"/>
            </a:pPr>
            <a:r>
              <a:rPr lang="en-US" altLang="zh-CN" sz="2000" dirty="0">
                <a:latin typeface="微软雅黑 Light" panose="020B0502040204020203" pitchFamily="34" charset="-122"/>
                <a:ea typeface="微软雅黑 Light" panose="020B0502040204020203" pitchFamily="34" charset="-122"/>
              </a:rPr>
              <a:t>  Pictures of objects belonging to 101 categories. About 40 to 800 images per category. Most categories have about 50 images. Collected in September 2003 by </a:t>
            </a:r>
            <a:r>
              <a:rPr lang="en-US" altLang="zh-CN" sz="2000" dirty="0" err="1">
                <a:latin typeface="微软雅黑 Light" panose="020B0502040204020203" pitchFamily="34" charset="-122"/>
                <a:ea typeface="微软雅黑 Light" panose="020B0502040204020203" pitchFamily="34" charset="-122"/>
              </a:rPr>
              <a:t>Fei-Fei</a:t>
            </a:r>
            <a:r>
              <a:rPr lang="en-US" altLang="zh-CN" sz="2000" dirty="0">
                <a:latin typeface="微软雅黑 Light" panose="020B0502040204020203" pitchFamily="34" charset="-122"/>
                <a:ea typeface="微软雅黑 Light" panose="020B0502040204020203" pitchFamily="34" charset="-122"/>
              </a:rPr>
              <a:t> Li, Marco </a:t>
            </a:r>
            <a:r>
              <a:rPr lang="en-US" altLang="zh-CN" sz="2000" dirty="0" err="1">
                <a:latin typeface="微软雅黑 Light" panose="020B0502040204020203" pitchFamily="34" charset="-122"/>
                <a:ea typeface="微软雅黑 Light" panose="020B0502040204020203" pitchFamily="34" charset="-122"/>
              </a:rPr>
              <a:t>Andreetto</a:t>
            </a:r>
            <a:r>
              <a:rPr lang="en-US" altLang="zh-CN" sz="2000" dirty="0">
                <a:latin typeface="微软雅黑 Light" panose="020B0502040204020203" pitchFamily="34" charset="-122"/>
                <a:ea typeface="微软雅黑 Light" panose="020B0502040204020203" pitchFamily="34" charset="-122"/>
              </a:rPr>
              <a:t>, and Marc 'Aurelio </a:t>
            </a:r>
            <a:r>
              <a:rPr lang="en-US" altLang="zh-CN" sz="2000" dirty="0" err="1">
                <a:latin typeface="微软雅黑 Light" panose="020B0502040204020203" pitchFamily="34" charset="-122"/>
                <a:ea typeface="微软雅黑 Light" panose="020B0502040204020203" pitchFamily="34" charset="-122"/>
              </a:rPr>
              <a:t>Ranzato</a:t>
            </a:r>
            <a:r>
              <a:rPr lang="en-US" altLang="zh-CN" sz="2000" dirty="0">
                <a:latin typeface="微软雅黑 Light" panose="020B0502040204020203" pitchFamily="34" charset="-122"/>
                <a:ea typeface="微软雅黑 Light" panose="020B0502040204020203" pitchFamily="34" charset="-122"/>
              </a:rPr>
              <a:t>.  The size of each image is roughly 300 x 200 pixels.</a:t>
            </a:r>
            <a:endParaRPr lang="zh-CN" altLang="en-US" sz="2000" dirty="0">
              <a:latin typeface="微软雅黑 Light" panose="020B0502040204020203" pitchFamily="34" charset="-122"/>
              <a:ea typeface="微软雅黑 Light" panose="020B0502040204020203" pitchFamily="34" charset="-122"/>
            </a:endParaRPr>
          </a:p>
        </p:txBody>
      </p:sp>
      <p:sp>
        <p:nvSpPr>
          <p:cNvPr id="5" name="文本框 4"/>
          <p:cNvSpPr txBox="1"/>
          <p:nvPr/>
        </p:nvSpPr>
        <p:spPr>
          <a:xfrm>
            <a:off x="1403797" y="4515550"/>
            <a:ext cx="6336406" cy="400110"/>
          </a:xfrm>
          <a:prstGeom prst="rect">
            <a:avLst/>
          </a:prstGeom>
          <a:noFill/>
        </p:spPr>
        <p:txBody>
          <a:bodyPr wrap="square" rtlCol="0">
            <a:spAutoFit/>
          </a:bodyPr>
          <a:lstStyle/>
          <a:p>
            <a:pPr marL="285750" indent="-285750">
              <a:buFont typeface="Wingdings" panose="05000000000000000000" pitchFamily="2" charset="2"/>
              <a:buChar char="Ø"/>
            </a:pPr>
            <a:r>
              <a:rPr lang="en-US" altLang="zh-CN" sz="2000" dirty="0">
                <a:latin typeface="微软雅黑 Light" panose="020B0502040204020203" pitchFamily="34" charset="-122"/>
                <a:ea typeface="微软雅黑 Light" panose="020B0502040204020203" pitchFamily="34" charset="-122"/>
              </a:rPr>
              <a:t> Tom and Jerry 166</a:t>
            </a:r>
            <a:endParaRPr lang="zh-CN" altLang="en-US" sz="2000" dirty="0">
              <a:latin typeface="微软雅黑 Light" panose="020B0502040204020203" pitchFamily="34" charset="-122"/>
              <a:ea typeface="微软雅黑 Light" panose="020B0502040204020203" pitchFamily="34" charset="-122"/>
            </a:endParaRPr>
          </a:p>
        </p:txBody>
      </p:sp>
    </p:spTree>
    <p:extLst>
      <p:ext uri="{BB962C8B-B14F-4D97-AF65-F5344CB8AC3E}">
        <p14:creationId xmlns:p14="http://schemas.microsoft.com/office/powerpoint/2010/main" val="13573564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4698" y="2067336"/>
            <a:ext cx="5142834" cy="3573610"/>
          </a:xfrm>
          <a:prstGeom prst="rect">
            <a:avLst/>
          </a:prstGeom>
        </p:spPr>
      </p:pic>
      <p:sp>
        <p:nvSpPr>
          <p:cNvPr id="3" name="文本框 2"/>
          <p:cNvSpPr txBox="1"/>
          <p:nvPr/>
        </p:nvSpPr>
        <p:spPr>
          <a:xfrm>
            <a:off x="1275009" y="1004551"/>
            <a:ext cx="3696235" cy="584775"/>
          </a:xfrm>
          <a:prstGeom prst="rect">
            <a:avLst/>
          </a:prstGeom>
          <a:noFill/>
        </p:spPr>
        <p:txBody>
          <a:bodyPr wrap="square" rtlCol="0">
            <a:spAutoFit/>
          </a:bodyPr>
          <a:lstStyle/>
          <a:p>
            <a:r>
              <a:rPr lang="en-US" altLang="zh-CN" sz="3200" dirty="0">
                <a:latin typeface="微软雅黑 Light" panose="020B0502040204020203" pitchFamily="34" charset="-122"/>
                <a:ea typeface="微软雅黑 Light" panose="020B0502040204020203" pitchFamily="34" charset="-122"/>
              </a:rPr>
              <a:t>Training Loss</a:t>
            </a:r>
          </a:p>
        </p:txBody>
      </p:sp>
      <p:sp>
        <p:nvSpPr>
          <p:cNvPr id="4" name="文本框 3"/>
          <p:cNvSpPr txBox="1"/>
          <p:nvPr/>
        </p:nvSpPr>
        <p:spPr>
          <a:xfrm>
            <a:off x="6797899" y="1004551"/>
            <a:ext cx="3696235" cy="584775"/>
          </a:xfrm>
          <a:prstGeom prst="rect">
            <a:avLst/>
          </a:prstGeom>
          <a:noFill/>
        </p:spPr>
        <p:txBody>
          <a:bodyPr wrap="square" rtlCol="0">
            <a:spAutoFit/>
          </a:bodyPr>
          <a:lstStyle/>
          <a:p>
            <a:r>
              <a:rPr lang="en-US" altLang="zh-CN" sz="3200" dirty="0">
                <a:latin typeface="微软雅黑 Light" panose="020B0502040204020203" pitchFamily="34" charset="-122"/>
                <a:ea typeface="微软雅黑 Light" panose="020B0502040204020203" pitchFamily="34" charset="-122"/>
              </a:rPr>
              <a:t>Predictions</a:t>
            </a:r>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24282" y="4340766"/>
            <a:ext cx="6108750" cy="2036250"/>
          </a:xfrm>
          <a:prstGeom prst="rect">
            <a:avLst/>
          </a:prstGeom>
        </p:spPr>
      </p:pic>
      <p:pic>
        <p:nvPicPr>
          <p:cNvPr id="6" name="图片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24282" y="1720541"/>
            <a:ext cx="6143093" cy="2133600"/>
          </a:xfrm>
          <a:prstGeom prst="rect">
            <a:avLst/>
          </a:prstGeom>
        </p:spPr>
      </p:pic>
      <p:sp>
        <p:nvSpPr>
          <p:cNvPr id="7" name="文本框 6"/>
          <p:cNvSpPr txBox="1"/>
          <p:nvPr/>
        </p:nvSpPr>
        <p:spPr>
          <a:xfrm>
            <a:off x="6027313" y="3945819"/>
            <a:ext cx="3773510" cy="369332"/>
          </a:xfrm>
          <a:prstGeom prst="rect">
            <a:avLst/>
          </a:prstGeom>
          <a:noFill/>
        </p:spPr>
        <p:txBody>
          <a:bodyPr wrap="square" rtlCol="0">
            <a:spAutoFit/>
          </a:bodyPr>
          <a:lstStyle/>
          <a:p>
            <a:r>
              <a:rPr lang="en-US" altLang="zh-CN" dirty="0"/>
              <a:t>Hyper Columns</a:t>
            </a:r>
            <a:endParaRPr lang="zh-CN" altLang="en-US" dirty="0"/>
          </a:p>
        </p:txBody>
      </p:sp>
      <p:sp>
        <p:nvSpPr>
          <p:cNvPr id="8" name="文本框 7"/>
          <p:cNvSpPr txBox="1"/>
          <p:nvPr/>
        </p:nvSpPr>
        <p:spPr>
          <a:xfrm>
            <a:off x="6027313" y="6488668"/>
            <a:ext cx="3773510" cy="369332"/>
          </a:xfrm>
          <a:prstGeom prst="rect">
            <a:avLst/>
          </a:prstGeom>
          <a:noFill/>
        </p:spPr>
        <p:txBody>
          <a:bodyPr wrap="square" rtlCol="0">
            <a:spAutoFit/>
          </a:bodyPr>
          <a:lstStyle/>
          <a:p>
            <a:r>
              <a:rPr lang="en-US" altLang="zh-CN" dirty="0"/>
              <a:t>Residual Encode</a:t>
            </a:r>
            <a:endParaRPr lang="zh-CN" altLang="en-US" dirty="0"/>
          </a:p>
        </p:txBody>
      </p:sp>
    </p:spTree>
    <p:extLst>
      <p:ext uri="{BB962C8B-B14F-4D97-AF65-F5344CB8AC3E}">
        <p14:creationId xmlns:p14="http://schemas.microsoft.com/office/powerpoint/2010/main" val="12215044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59854" y="708337"/>
            <a:ext cx="3696235" cy="584775"/>
          </a:xfrm>
          <a:prstGeom prst="rect">
            <a:avLst/>
          </a:prstGeom>
          <a:noFill/>
        </p:spPr>
        <p:txBody>
          <a:bodyPr wrap="square" rtlCol="0">
            <a:spAutoFit/>
          </a:bodyPr>
          <a:lstStyle/>
          <a:p>
            <a:r>
              <a:rPr lang="en-US" altLang="zh-CN" sz="3200" dirty="0">
                <a:latin typeface="微软雅黑 Light" panose="020B0502040204020203" pitchFamily="34" charset="-122"/>
                <a:ea typeface="微软雅黑 Light" panose="020B0502040204020203" pitchFamily="34" charset="-122"/>
              </a:rPr>
              <a:t>Our Predictions</a:t>
            </a:r>
          </a:p>
        </p:txBody>
      </p:sp>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2254" y="1688134"/>
            <a:ext cx="6400800" cy="2133600"/>
          </a:xfrm>
          <a:prstGeom prst="rect">
            <a:avLst/>
          </a:prstGeom>
        </p:spPr>
      </p:pic>
      <p:pic>
        <p:nvPicPr>
          <p:cNvPr id="4" name="图片 3"/>
          <p:cNvPicPr>
            <a:picLocks noChangeAspect="1"/>
          </p:cNvPicPr>
          <p:nvPr/>
        </p:nvPicPr>
        <p:blipFill>
          <a:blip r:embed="rId3"/>
          <a:stretch>
            <a:fillRect/>
          </a:stretch>
        </p:blipFill>
        <p:spPr>
          <a:xfrm>
            <a:off x="4571999" y="4113726"/>
            <a:ext cx="6400800" cy="2133600"/>
          </a:xfrm>
          <a:prstGeom prst="rect">
            <a:avLst/>
          </a:prstGeom>
        </p:spPr>
      </p:pic>
      <p:sp>
        <p:nvSpPr>
          <p:cNvPr id="5" name="矩形 4"/>
          <p:cNvSpPr/>
          <p:nvPr/>
        </p:nvSpPr>
        <p:spPr>
          <a:xfrm>
            <a:off x="8096519" y="2431768"/>
            <a:ext cx="1562636" cy="646331"/>
          </a:xfrm>
          <a:prstGeom prst="rect">
            <a:avLst/>
          </a:prstGeom>
        </p:spPr>
        <p:txBody>
          <a:bodyPr wrap="square">
            <a:spAutoFit/>
          </a:bodyPr>
          <a:lstStyle/>
          <a:p>
            <a:r>
              <a:rPr lang="de-DE" altLang="zh-CN" dirty="0"/>
              <a:t>psnr: 39.492</a:t>
            </a:r>
          </a:p>
          <a:p>
            <a:r>
              <a:rPr lang="de-DE" altLang="zh-CN" dirty="0"/>
              <a:t>ssim: 0.915</a:t>
            </a:r>
            <a:endParaRPr lang="zh-CN" altLang="en-US" dirty="0"/>
          </a:p>
        </p:txBody>
      </p:sp>
      <p:sp>
        <p:nvSpPr>
          <p:cNvPr id="6" name="矩形 5"/>
          <p:cNvSpPr/>
          <p:nvPr/>
        </p:nvSpPr>
        <p:spPr>
          <a:xfrm>
            <a:off x="1744013" y="4757498"/>
            <a:ext cx="1727915" cy="646331"/>
          </a:xfrm>
          <a:prstGeom prst="rect">
            <a:avLst/>
          </a:prstGeom>
        </p:spPr>
        <p:txBody>
          <a:bodyPr wrap="square">
            <a:spAutoFit/>
          </a:bodyPr>
          <a:lstStyle/>
          <a:p>
            <a:r>
              <a:rPr lang="de-DE" altLang="zh-CN" dirty="0"/>
              <a:t>psnr:39.708</a:t>
            </a:r>
          </a:p>
          <a:p>
            <a:r>
              <a:rPr lang="de-DE" altLang="zh-CN" dirty="0"/>
              <a:t>ssim</a:t>
            </a:r>
            <a:r>
              <a:rPr lang="en-US" altLang="zh-CN" dirty="0"/>
              <a:t>:</a:t>
            </a:r>
            <a:r>
              <a:rPr lang="de-DE" altLang="zh-CN" dirty="0"/>
              <a:t> 0.969</a:t>
            </a:r>
            <a:endParaRPr lang="zh-CN" altLang="en-US" dirty="0"/>
          </a:p>
        </p:txBody>
      </p:sp>
    </p:spTree>
    <p:extLst>
      <p:ext uri="{BB962C8B-B14F-4D97-AF65-F5344CB8AC3E}">
        <p14:creationId xmlns:p14="http://schemas.microsoft.com/office/powerpoint/2010/main" val="35400176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59854" y="708337"/>
            <a:ext cx="3696235" cy="584775"/>
          </a:xfrm>
          <a:prstGeom prst="rect">
            <a:avLst/>
          </a:prstGeom>
          <a:noFill/>
        </p:spPr>
        <p:txBody>
          <a:bodyPr wrap="square" rtlCol="0">
            <a:spAutoFit/>
          </a:bodyPr>
          <a:lstStyle/>
          <a:p>
            <a:r>
              <a:rPr lang="en-US" altLang="zh-CN" sz="3200" dirty="0">
                <a:latin typeface="微软雅黑 Light" panose="020B0502040204020203" pitchFamily="34" charset="-122"/>
                <a:ea typeface="微软雅黑 Light" panose="020B0502040204020203" pitchFamily="34" charset="-122"/>
              </a:rPr>
              <a:t>Our Predictions</a:t>
            </a:r>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9854" y="1679620"/>
            <a:ext cx="6400800" cy="2133600"/>
          </a:xfrm>
          <a:prstGeom prst="rect">
            <a:avLst/>
          </a:prstGeom>
        </p:spPr>
      </p:pic>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75917" y="4019424"/>
            <a:ext cx="6400800" cy="2133600"/>
          </a:xfrm>
          <a:prstGeom prst="rect">
            <a:avLst/>
          </a:prstGeom>
        </p:spPr>
      </p:pic>
      <p:sp>
        <p:nvSpPr>
          <p:cNvPr id="3" name="矩形 2"/>
          <p:cNvSpPr/>
          <p:nvPr/>
        </p:nvSpPr>
        <p:spPr>
          <a:xfrm>
            <a:off x="8186671" y="2423254"/>
            <a:ext cx="1459605" cy="646331"/>
          </a:xfrm>
          <a:prstGeom prst="rect">
            <a:avLst/>
          </a:prstGeom>
        </p:spPr>
        <p:txBody>
          <a:bodyPr wrap="square">
            <a:spAutoFit/>
          </a:bodyPr>
          <a:lstStyle/>
          <a:p>
            <a:r>
              <a:rPr lang="de-DE" altLang="zh-CN" dirty="0"/>
              <a:t>psnr:  39.899</a:t>
            </a:r>
          </a:p>
          <a:p>
            <a:r>
              <a:rPr lang="de-DE" altLang="zh-CN" dirty="0"/>
              <a:t>ssim:  0.976</a:t>
            </a:r>
            <a:endParaRPr lang="zh-CN" altLang="en-US" dirty="0"/>
          </a:p>
        </p:txBody>
      </p:sp>
      <p:sp>
        <p:nvSpPr>
          <p:cNvPr id="4" name="矩形 3"/>
          <p:cNvSpPr/>
          <p:nvPr/>
        </p:nvSpPr>
        <p:spPr>
          <a:xfrm>
            <a:off x="1815920" y="4641588"/>
            <a:ext cx="1584101" cy="646331"/>
          </a:xfrm>
          <a:prstGeom prst="rect">
            <a:avLst/>
          </a:prstGeom>
        </p:spPr>
        <p:txBody>
          <a:bodyPr wrap="square">
            <a:spAutoFit/>
          </a:bodyPr>
          <a:lstStyle/>
          <a:p>
            <a:r>
              <a:rPr lang="en-US" altLang="zh-CN" dirty="0"/>
              <a:t>p</a:t>
            </a:r>
            <a:r>
              <a:rPr lang="de-DE" altLang="zh-CN" dirty="0"/>
              <a:t>snr</a:t>
            </a:r>
            <a:r>
              <a:rPr lang="zh-CN" altLang="en-US" dirty="0"/>
              <a:t>：</a:t>
            </a:r>
            <a:r>
              <a:rPr lang="de-DE" altLang="zh-CN" dirty="0"/>
              <a:t>40.053</a:t>
            </a:r>
          </a:p>
          <a:p>
            <a:r>
              <a:rPr lang="en-US" altLang="zh-CN" dirty="0"/>
              <a:t>s</a:t>
            </a:r>
            <a:r>
              <a:rPr lang="de-DE" altLang="zh-CN" dirty="0"/>
              <a:t>sim</a:t>
            </a:r>
            <a:r>
              <a:rPr lang="zh-CN" altLang="en-US" dirty="0"/>
              <a:t>：</a:t>
            </a:r>
            <a:r>
              <a:rPr lang="de-DE" altLang="zh-CN" dirty="0"/>
              <a:t>0.994</a:t>
            </a:r>
            <a:endParaRPr lang="zh-CN" altLang="en-US" dirty="0"/>
          </a:p>
        </p:txBody>
      </p:sp>
    </p:spTree>
    <p:extLst>
      <p:ext uri="{BB962C8B-B14F-4D97-AF65-F5344CB8AC3E}">
        <p14:creationId xmlns:p14="http://schemas.microsoft.com/office/powerpoint/2010/main" val="19518952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63013" y="502276"/>
            <a:ext cx="4893971" cy="584775"/>
          </a:xfrm>
          <a:prstGeom prst="rect">
            <a:avLst/>
          </a:prstGeom>
          <a:noFill/>
        </p:spPr>
        <p:txBody>
          <a:bodyPr wrap="square" rtlCol="0">
            <a:spAutoFit/>
          </a:bodyPr>
          <a:lstStyle/>
          <a:p>
            <a:r>
              <a:rPr lang="en-US" altLang="zh-CN" sz="3200" dirty="0">
                <a:latin typeface="微软雅黑 Light" panose="020B0502040204020203" pitchFamily="34" charset="-122"/>
                <a:ea typeface="微软雅黑 Light" panose="020B0502040204020203" pitchFamily="34" charset="-122"/>
              </a:rPr>
              <a:t>Let</a:t>
            </a:r>
            <a:r>
              <a:rPr lang="zh-CN" altLang="en-US" sz="3200" dirty="0">
                <a:latin typeface="微软雅黑 Light" panose="020B0502040204020203" pitchFamily="34" charset="-122"/>
                <a:ea typeface="微软雅黑 Light" panose="020B0502040204020203" pitchFamily="34" charset="-122"/>
              </a:rPr>
              <a:t>’</a:t>
            </a:r>
            <a:r>
              <a:rPr lang="en-US" altLang="zh-CN" sz="3200" dirty="0">
                <a:latin typeface="微软雅黑 Light" panose="020B0502040204020203" pitchFamily="34" charset="-122"/>
                <a:ea typeface="微软雅黑 Light" panose="020B0502040204020203" pitchFamily="34" charset="-122"/>
              </a:rPr>
              <a:t>s enjoy a movie</a:t>
            </a:r>
          </a:p>
        </p:txBody>
      </p:sp>
      <p:pic>
        <p:nvPicPr>
          <p:cNvPr id="4" name="1">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561560" y="1203697"/>
            <a:ext cx="8947599" cy="2982533"/>
          </a:xfrm>
          <a:prstGeom prst="rect">
            <a:avLst/>
          </a:prstGeom>
        </p:spPr>
      </p:pic>
      <p:sp>
        <p:nvSpPr>
          <p:cNvPr id="5" name="文本框 4"/>
          <p:cNvSpPr txBox="1"/>
          <p:nvPr/>
        </p:nvSpPr>
        <p:spPr>
          <a:xfrm>
            <a:off x="4288664" y="4870946"/>
            <a:ext cx="6220495" cy="1754326"/>
          </a:xfrm>
          <a:prstGeom prst="rect">
            <a:avLst/>
          </a:prstGeom>
          <a:noFill/>
        </p:spPr>
        <p:txBody>
          <a:bodyPr wrap="square" rtlCol="0">
            <a:spAutoFit/>
          </a:bodyPr>
          <a:lstStyle/>
          <a:p>
            <a:pPr marL="285750">
              <a:lnSpc>
                <a:spcPct val="150000"/>
              </a:lnSpc>
              <a:buFont typeface="Wingdings" panose="05000000000000000000" pitchFamily="2" charset="2"/>
              <a:buChar char="Ø"/>
            </a:pPr>
            <a:r>
              <a:rPr lang="en-US" altLang="zh-CN" sz="2400" dirty="0">
                <a:latin typeface="微软雅黑 Light" panose="020B0502040204020203" pitchFamily="34" charset="-122"/>
                <a:ea typeface="微软雅黑 Light" panose="020B0502040204020203" pitchFamily="34" charset="-122"/>
              </a:rPr>
              <a:t>Model: VGG-19</a:t>
            </a:r>
            <a:r>
              <a:rPr lang="zh-CN" altLang="en-US" sz="2400" dirty="0">
                <a:latin typeface="微软雅黑 Light" panose="020B0502040204020203" pitchFamily="34" charset="-122"/>
                <a:ea typeface="微软雅黑 Light" panose="020B0502040204020203" pitchFamily="34" charset="-122"/>
              </a:rPr>
              <a:t>，</a:t>
            </a:r>
            <a:r>
              <a:rPr lang="en-US" altLang="zh-CN" sz="2400" dirty="0" err="1">
                <a:latin typeface="微软雅黑 Light" panose="020B0502040204020203" pitchFamily="34" charset="-122"/>
                <a:ea typeface="微软雅黑 Light" panose="020B0502040204020203" pitchFamily="34" charset="-122"/>
              </a:rPr>
              <a:t>ResNet</a:t>
            </a:r>
            <a:endParaRPr lang="en-US" altLang="zh-CN" sz="2400" dirty="0">
              <a:latin typeface="微软雅黑 Light" panose="020B0502040204020203" pitchFamily="34" charset="-122"/>
              <a:ea typeface="微软雅黑 Light" panose="020B0502040204020203" pitchFamily="34" charset="-122"/>
            </a:endParaRPr>
          </a:p>
          <a:p>
            <a:pPr marL="285750">
              <a:lnSpc>
                <a:spcPct val="150000"/>
              </a:lnSpc>
              <a:buFont typeface="Wingdings" panose="05000000000000000000" pitchFamily="2" charset="2"/>
              <a:buChar char="Ø"/>
            </a:pPr>
            <a:r>
              <a:rPr lang="en-US" altLang="zh-CN" sz="2400" dirty="0">
                <a:latin typeface="微软雅黑 Light" panose="020B0502040204020203" pitchFamily="34" charset="-122"/>
                <a:ea typeface="微软雅黑 Light" panose="020B0502040204020203" pitchFamily="34" charset="-122"/>
              </a:rPr>
              <a:t>Loss Function: 1/</a:t>
            </a:r>
            <a:r>
              <a:rPr lang="en-US" altLang="zh-CN" sz="2400" dirty="0" err="1">
                <a:latin typeface="微软雅黑 Light" panose="020B0502040204020203" pitchFamily="34" charset="-122"/>
                <a:ea typeface="微软雅黑 Light" panose="020B0502040204020203" pitchFamily="34" charset="-122"/>
              </a:rPr>
              <a:t>psnr</a:t>
            </a:r>
            <a:r>
              <a:rPr lang="en-US" altLang="zh-CN" sz="2400" dirty="0">
                <a:latin typeface="微软雅黑 Light" panose="020B0502040204020203" pitchFamily="34" charset="-122"/>
                <a:ea typeface="微软雅黑 Light" panose="020B0502040204020203" pitchFamily="34" charset="-122"/>
              </a:rPr>
              <a:t>, others</a:t>
            </a:r>
          </a:p>
          <a:p>
            <a:pPr marL="285750">
              <a:lnSpc>
                <a:spcPct val="150000"/>
              </a:lnSpc>
              <a:buFont typeface="Wingdings" panose="05000000000000000000" pitchFamily="2" charset="2"/>
              <a:buChar char="Ø"/>
            </a:pPr>
            <a:r>
              <a:rPr lang="en-US" altLang="zh-CN" sz="2400" dirty="0">
                <a:latin typeface="微软雅黑 Light" panose="020B0502040204020203" pitchFamily="34" charset="-122"/>
                <a:ea typeface="微软雅黑 Light" panose="020B0502040204020203" pitchFamily="34" charset="-122"/>
              </a:rPr>
              <a:t>Picture: picture size</a:t>
            </a:r>
            <a:endParaRPr lang="zh-CN" altLang="en-US" sz="2400" dirty="0">
              <a:latin typeface="微软雅黑 Light" panose="020B0502040204020203" pitchFamily="34" charset="-122"/>
              <a:ea typeface="微软雅黑 Light" panose="020B0502040204020203" pitchFamily="34" charset="-122"/>
            </a:endParaRPr>
          </a:p>
        </p:txBody>
      </p:sp>
      <p:sp>
        <p:nvSpPr>
          <p:cNvPr id="6" name="文本框 5"/>
          <p:cNvSpPr txBox="1"/>
          <p:nvPr/>
        </p:nvSpPr>
        <p:spPr>
          <a:xfrm>
            <a:off x="2193700" y="5163334"/>
            <a:ext cx="1747235" cy="584775"/>
          </a:xfrm>
          <a:prstGeom prst="rect">
            <a:avLst/>
          </a:prstGeom>
          <a:noFill/>
        </p:spPr>
        <p:txBody>
          <a:bodyPr wrap="square" rtlCol="0">
            <a:spAutoFit/>
          </a:bodyPr>
          <a:lstStyle/>
          <a:p>
            <a:r>
              <a:rPr lang="en-US" altLang="zh-CN" sz="3200" dirty="0">
                <a:latin typeface="微软雅黑 Light" panose="020B0502040204020203" pitchFamily="34" charset="-122"/>
                <a:ea typeface="微软雅黑 Light" panose="020B0502040204020203" pitchFamily="34" charset="-122"/>
              </a:rPr>
              <a:t>Outlook</a:t>
            </a:r>
          </a:p>
        </p:txBody>
      </p:sp>
    </p:spTree>
    <p:extLst>
      <p:ext uri="{BB962C8B-B14F-4D97-AF65-F5344CB8AC3E}">
        <p14:creationId xmlns:p14="http://schemas.microsoft.com/office/powerpoint/2010/main" val="3626734676"/>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4"/>
                                        </p:tgtEl>
                                      </p:cBhvr>
                                    </p:cmd>
                                  </p:childTnLst>
                                </p:cTn>
                              </p:par>
                            </p:childTnLst>
                          </p:cTn>
                        </p:par>
                      </p:childTnLst>
                    </p:cTn>
                  </p:par>
                </p:childTnLst>
              </p:cTn>
              <p:nextCondLst>
                <p:cond evt="onClick" delay="0">
                  <p:tgtEl>
                    <p:spTgt spid="4"/>
                  </p:tgtEl>
                </p:cond>
              </p:nextCondLst>
            </p:seq>
            <p:video>
              <p:cMediaNode vol="80000">
                <p:cTn id="7" fill="hold" display="0">
                  <p:stCondLst>
                    <p:cond delay="indefinite"/>
                  </p:stCondLst>
                </p:cTn>
                <p:tgtEl>
                  <p:spTgt spid="4"/>
                </p:tgtEl>
              </p:cMediaNode>
            </p:vide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任意多边形 10"/>
          <p:cNvSpPr/>
          <p:nvPr>
            <p:custDataLst>
              <p:tags r:id="rId2"/>
            </p:custDataLst>
          </p:nvPr>
        </p:nvSpPr>
        <p:spPr>
          <a:xfrm>
            <a:off x="1472485" y="2311824"/>
            <a:ext cx="7029450" cy="231775"/>
          </a:xfrm>
          <a:custGeom>
            <a:avLst/>
            <a:gdLst>
              <a:gd name="connsiteX0" fmla="*/ 0 w 7029450"/>
              <a:gd name="connsiteY0" fmla="*/ 0 h 232229"/>
              <a:gd name="connsiteX1" fmla="*/ 6846022 w 7029450"/>
              <a:gd name="connsiteY1" fmla="*/ 0 h 232229"/>
              <a:gd name="connsiteX2" fmla="*/ 6846923 w 7029450"/>
              <a:gd name="connsiteY2" fmla="*/ 3665 h 232229"/>
              <a:gd name="connsiteX3" fmla="*/ 6946961 w 7029450"/>
              <a:gd name="connsiteY3" fmla="*/ 125545 h 232229"/>
              <a:gd name="connsiteX4" fmla="*/ 7029450 w 7029450"/>
              <a:gd name="connsiteY4" fmla="*/ 171230 h 232229"/>
              <a:gd name="connsiteX5" fmla="*/ 7029450 w 7029450"/>
              <a:gd name="connsiteY5" fmla="*/ 232229 h 232229"/>
              <a:gd name="connsiteX6" fmla="*/ 0 w 7029450"/>
              <a:gd name="connsiteY6" fmla="*/ 232229 h 232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029450" h="232229">
                <a:moveTo>
                  <a:pt x="0" y="0"/>
                </a:moveTo>
                <a:lnTo>
                  <a:pt x="6846022" y="0"/>
                </a:lnTo>
                <a:lnTo>
                  <a:pt x="6846923" y="3665"/>
                </a:lnTo>
                <a:cubicBezTo>
                  <a:pt x="6870544" y="49538"/>
                  <a:pt x="6904724" y="90851"/>
                  <a:pt x="6946961" y="125545"/>
                </a:cubicBezTo>
                <a:lnTo>
                  <a:pt x="7029450" y="171230"/>
                </a:lnTo>
                <a:lnTo>
                  <a:pt x="7029450" y="232229"/>
                </a:lnTo>
                <a:lnTo>
                  <a:pt x="0" y="232229"/>
                </a:lnTo>
                <a:close/>
              </a:path>
            </a:pathLst>
          </a:custGeom>
          <a:solidFill>
            <a:schemeClr val="accent2">
              <a:lumMod val="60000"/>
              <a:lumOff val="40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0000"/>
              </a:solidFill>
            </a:endParaRPr>
          </a:p>
        </p:txBody>
      </p:sp>
      <p:sp>
        <p:nvSpPr>
          <p:cNvPr id="4100" name="文本框 4"/>
          <p:cNvSpPr txBox="1">
            <a:spLocks noChangeArrowheads="1"/>
          </p:cNvSpPr>
          <p:nvPr>
            <p:custDataLst>
              <p:tags r:id="rId3"/>
            </p:custDataLst>
          </p:nvPr>
        </p:nvSpPr>
        <p:spPr bwMode="auto">
          <a:xfrm>
            <a:off x="2840530" y="2421293"/>
            <a:ext cx="6124575" cy="168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a:lnSpc>
                <a:spcPct val="100000"/>
              </a:lnSpc>
              <a:spcBef>
                <a:spcPct val="0"/>
              </a:spcBef>
              <a:buFontTx/>
              <a:buNone/>
            </a:pPr>
            <a:r>
              <a:rPr lang="en-US" altLang="zh-CN" sz="8000" dirty="0">
                <a:solidFill>
                  <a:schemeClr val="accent2">
                    <a:lumMod val="60000"/>
                    <a:lumOff val="40000"/>
                  </a:schemeClr>
                </a:solidFill>
                <a:latin typeface="Bodoni MT Black" pitchFamily="18" charset="0"/>
                <a:ea typeface="幼圆" pitchFamily="49" charset="-122"/>
              </a:rPr>
              <a:t>THANKS</a:t>
            </a:r>
            <a:endParaRPr lang="zh-CN" altLang="en-US" sz="8000" dirty="0">
              <a:solidFill>
                <a:schemeClr val="accent2">
                  <a:lumMod val="60000"/>
                  <a:lumOff val="40000"/>
                </a:schemeClr>
              </a:solidFill>
              <a:latin typeface="Bodoni MT Black" pitchFamily="18" charset="0"/>
              <a:ea typeface="幼圆" pitchFamily="49" charset="-122"/>
            </a:endParaRPr>
          </a:p>
        </p:txBody>
      </p:sp>
      <p:sp>
        <p:nvSpPr>
          <p:cNvPr id="9" name="矩形 8"/>
          <p:cNvSpPr/>
          <p:nvPr>
            <p:custDataLst>
              <p:tags r:id="rId4"/>
            </p:custDataLst>
          </p:nvPr>
        </p:nvSpPr>
        <p:spPr>
          <a:xfrm>
            <a:off x="3621144" y="4099212"/>
            <a:ext cx="6886575" cy="231775"/>
          </a:xfrm>
          <a:prstGeom prst="rect">
            <a:avLst/>
          </a:prstGeom>
          <a:solidFill>
            <a:schemeClr val="accent2">
              <a:lumMod val="60000"/>
              <a:lumOff val="40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accent2">
                  <a:lumMod val="60000"/>
                  <a:lumOff val="40000"/>
                </a:schemeClr>
              </a:solidFill>
            </a:endParaRPr>
          </a:p>
        </p:txBody>
      </p:sp>
    </p:spTree>
    <p:custDataLst>
      <p:tags r:id="rId1"/>
    </p:custDataLst>
    <p:extLst>
      <p:ext uri="{BB962C8B-B14F-4D97-AF65-F5344CB8AC3E}">
        <p14:creationId xmlns:p14="http://schemas.microsoft.com/office/powerpoint/2010/main" val="257954754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H" val="20150805131445"/>
  <p:tag name="MH_LIBRARY" val="GRAPHIC"/>
</p:tagLst>
</file>

<file path=ppt/tags/tag2.xml><?xml version="1.0" encoding="utf-8"?>
<p:tagLst xmlns:a="http://schemas.openxmlformats.org/drawingml/2006/main" xmlns:r="http://schemas.openxmlformats.org/officeDocument/2006/relationships" xmlns:p="http://schemas.openxmlformats.org/presentationml/2006/main">
  <p:tag name="MH" val="20150805131445"/>
  <p:tag name="MH_LIBRARY" val="GRAPHIC"/>
  <p:tag name="MH_ORDER" val="Freeform 10"/>
</p:tagLst>
</file>

<file path=ppt/tags/tag3.xml><?xml version="1.0" encoding="utf-8"?>
<p:tagLst xmlns:a="http://schemas.openxmlformats.org/drawingml/2006/main" xmlns:r="http://schemas.openxmlformats.org/officeDocument/2006/relationships" xmlns:p="http://schemas.openxmlformats.org/presentationml/2006/main">
  <p:tag name="MH" val="20150805131445"/>
  <p:tag name="MH_LIBRARY" val="GRAPHIC"/>
  <p:tag name="MH_ORDER" val="文本框 4"/>
</p:tagLst>
</file>

<file path=ppt/tags/tag4.xml><?xml version="1.0" encoding="utf-8"?>
<p:tagLst xmlns:a="http://schemas.openxmlformats.org/drawingml/2006/main" xmlns:r="http://schemas.openxmlformats.org/officeDocument/2006/relationships" xmlns:p="http://schemas.openxmlformats.org/presentationml/2006/main">
  <p:tag name="MH" val="20150805131445"/>
  <p:tag name="MH_LIBRARY" val="GRAPHIC"/>
  <p:tag name="MH_ORDER" val="Rectangle 8"/>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1933</TotalTime>
  <Words>349</Words>
  <Application>Microsoft Office PowerPoint</Application>
  <PresentationFormat>宽屏</PresentationFormat>
  <Paragraphs>54</Paragraphs>
  <Slides>19</Slides>
  <Notes>1</Notes>
  <HiddenSlides>0</HiddenSlides>
  <MMClips>1</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19</vt:i4>
      </vt:variant>
    </vt:vector>
  </HeadingPairs>
  <TitlesOfParts>
    <vt:vector size="29" baseType="lpstr">
      <vt:lpstr>宋体</vt:lpstr>
      <vt:lpstr>微软雅黑 Light</vt:lpstr>
      <vt:lpstr>幼圆</vt:lpstr>
      <vt:lpstr>Arial</vt:lpstr>
      <vt:lpstr>Bodoni MT Black</vt:lpstr>
      <vt:lpstr>Calibri</vt:lpstr>
      <vt:lpstr>Calibri Light</vt:lpstr>
      <vt:lpstr>Wingdings</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zhangxi</dc:creator>
  <cp:lastModifiedBy>张鸿铭</cp:lastModifiedBy>
  <cp:revision>44</cp:revision>
  <dcterms:created xsi:type="dcterms:W3CDTF">2017-06-07T10:35:13Z</dcterms:created>
  <dcterms:modified xsi:type="dcterms:W3CDTF">2017-08-02T14:36:20Z</dcterms:modified>
</cp:coreProperties>
</file>